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project guide, and faculty members. Welcome to our B.Tech project presentation titled 'Stock Return Prediction Using Ridge and Lasso Regression'. In this project, we have designed and implemented an end-to-end Machine Learning web application that allows users to upload any historical stock market CSV, automatically cleans the data, engineers leakage-free features, and compares two fundamental regularized regression techniques: Ridge and Lasso Regression.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introduce our project: In quantitative finance, predicting raw stock prices directly is a common beginner pitfall because prices drift and change scale across decades. Instead, our project predicts percentage returns, which remain stationary around zero. Furthermore, daily stock market attributes like Open, High, Low, and Close prices are strongly correlated with each other. Ordinary least squares regression fails in such conditions. This is where Ridge and Lasso regularized regression come in: Ridge controls coefficient inflation through L2 penalties, while Lasso performs automatic feature selection through L1 penalties.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articulate the core problem statement. Financial datasets present three major challenges: First, inconsistent formats across data providers make manual preprocessing repetitive and prone to error. Second, time-series data is vulnerable to look-ahead bias: if you randomly shuffle data or fit your scaler on the entire dataset, you leak future information into your model. Third, daily returns are noisy, meaning models must be evaluated strictly on chronologically held-out test data. Our system addresses all three challenges by enforcing a strict, automated, and leakage-free 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motivation stems from the desire to create an end-to-end, scientifically sound learning tool. Too often, stock prediction tutorials use toy setups with severe leakage and unrealistic claims. We wanted to build an application that teaches sound data science principles: how L1 and L2 regularization behave when presented with collinear financial features, how to properly evaluate time-series models, and how to communicate results transparently through a modern web UI.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defined five concrete objectives for this project: First, allow flexible CSV uploads with automatic column header mapping. Second, automate data cleaning and validation while preserving raw data integrity. Third, generate dynamic exploratory data visualizations with date range filtering. Fourth, train Ridge and Lasso regression inside leakage-free scikit-learn pipelines with time-series hyperparameter tuning. And fifth, evaluate models on unseen data and provide dual-mode predictions alongside downloadable CSV and Markdown reports.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existing landscape, most financial data exploration is done either in spreadsheets or in disconnected scripts. Spreadsheet analysis is manual, tedious, and cannot easily support machine learning pipelines. On the other hand, standalone Python scripts require coding knowledge and are prone to data leakage—such as random shuffling of time-series data. Our project overcomes these limitations by integrating data cleaning, leakage-free pipelines, and model comparison into a single web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proposed system. It is structured into an interactive, 11-step web application. A user simply uploads their raw CSV. The application validates the columns, cleans the records, generates exploratory data analysis charts, engineers 10 leakage-free features, trains Ridge and Lasso models, evaluates them on chronological test data, and allows users to obtain next-day return predictions. All features listed here have been fully implemented, tested, and verified.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architectural block diagram of our system. Notice the clear modular separation: The user interacts via Streamlit. Data moves through upload validation, preprocessing, and EDA. Feature engineering constructs 10 inputs and the target. The chronological split feeds both the Ridge pipeline and Lasso pipeline in parallel. Outputs are combined for objective metric comparison and prediction generation, with full download capability.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detailed 9-step methodology. A critical principle enforced throughout is zero data leakage: all feature engineering uses information available at or before the close of trading day t. The scaler is fitted only on the training 80% split, and hyperparameter tuning uses TimeSeriesSplit, ensuring validation folds never look into future periods.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relies strictly on standard, verified open-source libraries. Python is the core language; Streamlit provides the reactive frontend; Pandas and NumPy handle data transformations; Scikit-learn implements Ridge and Lasso pipelines; Plotly and Matplotlib deliver interactive and static visualizations; Joblib serializes model artifacts; and Pytest ensures code reliability through 31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breakdown of the eight modular components in our codebase. Each module has a strict single responsibility: data loading in data_loader.py, cleaning in preprocessing.py, feature calculation in feature_engineering.py, training in train.py, evaluation in evaluate.py, and prediction/reporting in predict.py and report.py. This makes the codebase clean, maintainable, and thoroughly testable.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core implementation details in Python. The target is created with close.shift(-1) divided by close minus 1. The final row is dropped because tomorrow's price is unobserved. On the right, we show how we implement scikit-learn Pipelines: StandardScaler and Ridge or Lasso are bundled together. This guarantees that test data is never seen during scaling, preventing subtle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dataset schema. We initially examined the Kaggle Reliance Industries stock dataset, covering 7,324 days from 1996 to 2025. The table displays the columns: Date, Open, High, Low, Close, Adjusted Close, and Volume. Importantly, our web application is designed to ingest any compatible CSV file—the Reliance dataset serves as our verified reference, not a hard-coded constraint.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compare the two algorithms mathematically. Ridge adds an L2 penalty on squared weights. It shrinks weights smoothly, helping when variables are correlated, but retains all features. Lasso adds an L1 penalty on absolute weights. Because the L1 constraint has sharp corners, it drives less useful weights to exact zero. In our project, this difference is crucial: Lasso automatically eliminated raw price levels, focusing purely on stationary return and volume features.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actual out-of-sample results on 1,464 test trading days. Lasso Regression achieved lower MAE and lower RMSE than Ridge Regression. Why did Lasso win? Because nominal stock prices more than doubled between the training era (1996-2019) and the test era (2019-2025). Ridge kept all 10 features, which distorted its predictions under the higher price level. Lasso's L1 penalty automatically zeroed out the raw price levels, relying only on stationary return and volume features.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highlight the functional demonstration of the web application. The application is accessible locally at localhost:8501. It features an intuitive 8-stage progress tracker across 9 pages: from CSV ingestion and data health auditing, to interactive EDA, chronological pipeline training, side-by-side metric comparison, and dual-mode return forecasting. All predictions include our mandatory academic disclaimer.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advantages of our system are: first, complete workflow integration; second, guaranteed leakage prevention through chronological pipelines; third, flexible schema mapping; fourth, transparent and honest evaluation that teaches real data science rather than making unrealistic profit claims.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real-world applications: This system is primarily designed for academic laboratories, quantitative finance coursework, and baseline algorithm benchmarking. It provides a transparent, interactive testbed. We emphasize that all outputs are educational and do not constitute financial advice.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rigorous engineering project must acknowledge its limitations. First, daily stock returns have a low signal-to-noise ratio—news and sentiment drive prices in ways historical OHLCV data cannot foresee. Second, Ridge and Lasso are linear models and cannot capture non-linear market regimes. Third, transaction costs and slippage are not modeled. Recognizing these boundaries demonstrates sound scientific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to the future, there are several promising extensions: expanding to non-linear models like Random Forests or LSTMs, integrating alternative data like financial news sentiment through NLP, incorporating macroeconomic indicators like crude oil and Nifty 50, and implementing rolling walk-forward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built a complete, working, and leakage-free stock return prediction application. Our empirical experiment revealed a valuable data science insight: Lasso outperformed Ridge because its L1 penalty automatically zeroed out non-stationary nominal price levels, allowing the model to generalize much better to future years. Thank you very much for your time and guidance. We are now happy to answer your questions and demonstrate the live application.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97280"/>
            <a:ext cx="6858000" cy="2926080"/>
          </a:xfrm>
          <a:prstGeom prst="rect">
            <a:avLst/>
          </a:prstGeom>
          <a:noFill/>
        </p:spPr>
        <p:txBody>
          <a:bodyPr wrap="square" lIns="0" tIns="0">
            <a:spAutoFit/>
          </a:bodyPr>
          <a:lstStyle/>
          <a:p>
            <a:pPr>
              <a:spcAft>
                <a:spcPts val="1200"/>
              </a:spcAft>
              <a:defRPr sz="1100" b="1">
                <a:solidFill>
                  <a:srgbClr val="0D9488"/>
                </a:solidFill>
                <a:latin typeface="Calibri"/>
              </a:defRPr>
            </a:pPr>
            <a:r>
              <a:t>B.TECH MACHINE LEARNING MINI-PROJECT EVALUATION</a:t>
            </a:r>
          </a:p>
          <a:p>
            <a:pPr>
              <a:spcAft>
                <a:spcPts val="1400"/>
              </a:spcAft>
              <a:defRPr sz="3000" b="1">
                <a:solidFill>
                  <a:srgbClr val="FFFFFF"/>
                </a:solidFill>
                <a:latin typeface="Calibri"/>
              </a:defRPr>
            </a:pPr>
            <a:r>
              <a:t>Stock Return Prediction Using Ridge &amp; Lasso Regression</a:t>
            </a:r>
          </a:p>
          <a:p>
            <a:pPr>
              <a:defRPr sz="1300">
                <a:solidFill>
                  <a:srgbClr val="CBD5E1"/>
                </a:solidFill>
                <a:latin typeface="Calibri"/>
              </a:defRPr>
            </a:pPr>
            <a:r>
              <a:t>An End-to-End Educational Web Application for Automated Stock CSV Analysis, Feature Engineering, Regularization Modeling, and Next-Trading-Day Return Forecasting</a:t>
            </a:r>
          </a:p>
        </p:txBody>
      </p:sp>
      <p:sp>
        <p:nvSpPr>
          <p:cNvPr id="5" name="Rectangle 4"/>
          <p:cNvSpPr/>
          <p:nvPr/>
        </p:nvSpPr>
        <p:spPr>
          <a:xfrm>
            <a:off x="8046720" y="1097280"/>
            <a:ext cx="3337560" cy="4572000"/>
          </a:xfrm>
          <a:prstGeom prst="rect">
            <a:avLst/>
          </a:prstGeom>
          <a:solidFill>
            <a:srgbClr val="1A2C4C"/>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0" y="1280160"/>
            <a:ext cx="2834640" cy="4114800"/>
          </a:xfrm>
          <a:prstGeom prst="rect">
            <a:avLst/>
          </a:prstGeom>
          <a:noFill/>
        </p:spPr>
        <p:txBody>
          <a:bodyPr wrap="square" lIns="0" tIns="0">
            <a:spAutoFit/>
          </a:bodyPr>
          <a:lstStyle/>
          <a:p>
            <a:pPr>
              <a:spcAft>
                <a:spcPts val="100"/>
              </a:spcAft>
              <a:defRPr sz="850" b="1">
                <a:solidFill>
                  <a:srgbClr val="0D9488"/>
                </a:solidFill>
                <a:latin typeface="Calibri"/>
              </a:defRPr>
            </a:pPr>
            <a:r>
              <a:t>PROJECT METADATA</a:t>
            </a:r>
          </a:p>
          <a:p>
            <a:pPr>
              <a:spcAft>
                <a:spcPts val="800"/>
              </a:spcAft>
              <a:defRPr sz="1100" b="0">
                <a:solidFill>
                  <a:srgbClr val="FFFFFF"/>
                </a:solidFill>
                <a:latin typeface="Calibri"/>
              </a:defRPr>
            </a:pPr>
            <a:r>
              <a:t>Academic Presentation</a:t>
            </a:r>
          </a:p>
          <a:p>
            <a:pPr>
              <a:spcAft>
                <a:spcPts val="100"/>
              </a:spcAft>
              <a:defRPr sz="850" b="1">
                <a:solidFill>
                  <a:srgbClr val="94A3B8"/>
                </a:solidFill>
                <a:latin typeface="Calibri"/>
              </a:defRPr>
            </a:pPr>
            <a:r>
              <a:t>STUDENT NAME(S)</a:t>
            </a:r>
          </a:p>
          <a:p>
            <a:pPr>
              <a:spcAft>
                <a:spcPts val="800"/>
              </a:spcAft>
              <a:defRPr sz="1100" b="1">
                <a:solidFill>
                  <a:srgbClr val="FFFFFF"/>
                </a:solidFill>
                <a:latin typeface="Calibri"/>
              </a:defRPr>
            </a:pPr>
            <a:r>
              <a:t>[ENTER STUDENT NAME(S)]</a:t>
            </a:r>
          </a:p>
          <a:p>
            <a:pPr>
              <a:spcAft>
                <a:spcPts val="100"/>
              </a:spcAft>
              <a:defRPr sz="850" b="1">
                <a:solidFill>
                  <a:srgbClr val="94A3B8"/>
                </a:solidFill>
                <a:latin typeface="Calibri"/>
              </a:defRPr>
            </a:pPr>
            <a:r>
              <a:t>ROLL NUMBER(S)</a:t>
            </a:r>
          </a:p>
          <a:p>
            <a:pPr>
              <a:spcAft>
                <a:spcPts val="800"/>
              </a:spcAft>
              <a:defRPr sz="1100" b="1">
                <a:solidFill>
                  <a:srgbClr val="FFFFFF"/>
                </a:solidFill>
                <a:latin typeface="Calibri"/>
              </a:defRPr>
            </a:pPr>
            <a:r>
              <a:t>[ENTER ROLL NUMBER(S)]</a:t>
            </a:r>
          </a:p>
          <a:p>
            <a:pPr>
              <a:spcAft>
                <a:spcPts val="100"/>
              </a:spcAft>
              <a:defRPr sz="850" b="1">
                <a:solidFill>
                  <a:srgbClr val="94A3B8"/>
                </a:solidFill>
                <a:latin typeface="Calibri"/>
              </a:defRPr>
            </a:pPr>
            <a:r>
              <a:t>PROJECT GUIDE</a:t>
            </a:r>
          </a:p>
          <a:p>
            <a:pPr>
              <a:spcAft>
                <a:spcPts val="800"/>
              </a:spcAft>
              <a:defRPr sz="1100" b="1">
                <a:solidFill>
                  <a:srgbClr val="FFFFFF"/>
                </a:solidFill>
                <a:latin typeface="Calibri"/>
              </a:defRPr>
            </a:pPr>
            <a:r>
              <a:t>[ENTER GUIDE NAME]</a:t>
            </a:r>
          </a:p>
          <a:p>
            <a:pPr>
              <a:spcAft>
                <a:spcPts val="100"/>
              </a:spcAft>
              <a:defRPr sz="850" b="1">
                <a:solidFill>
                  <a:srgbClr val="94A3B8"/>
                </a:solidFill>
                <a:latin typeface="Calibri"/>
              </a:defRPr>
            </a:pPr>
            <a:r>
              <a:t>DEPARTMENT</a:t>
            </a:r>
          </a:p>
          <a:p>
            <a:pPr>
              <a:spcAft>
                <a:spcPts val="800"/>
              </a:spcAft>
              <a:defRPr sz="1100" b="1">
                <a:solidFill>
                  <a:srgbClr val="FFFFFF"/>
                </a:solidFill>
                <a:latin typeface="Calibri"/>
              </a:defRPr>
            </a:pPr>
            <a:r>
              <a:t>[ENTER DEPARTMENT]</a:t>
            </a:r>
          </a:p>
          <a:p>
            <a:pPr>
              <a:spcAft>
                <a:spcPts val="100"/>
              </a:spcAft>
              <a:defRPr sz="850" b="1">
                <a:solidFill>
                  <a:srgbClr val="94A3B8"/>
                </a:solidFill>
                <a:latin typeface="Calibri"/>
              </a:defRPr>
            </a:pPr>
            <a:r>
              <a:t>COLLEGE / UNIVERSITY</a:t>
            </a:r>
          </a:p>
          <a:p>
            <a:pPr>
              <a:spcAft>
                <a:spcPts val="800"/>
              </a:spcAft>
              <a:defRPr sz="1100" b="1">
                <a:solidFill>
                  <a:srgbClr val="FFFFFF"/>
                </a:solidFill>
                <a:latin typeface="Calibri"/>
              </a:defRPr>
            </a:pPr>
            <a:r>
              <a:t>[ENTER COLLEGE NAME]</a:t>
            </a:r>
          </a:p>
          <a:p>
            <a:pPr>
              <a:spcAft>
                <a:spcPts val="100"/>
              </a:spcAft>
              <a:defRPr sz="850" b="1">
                <a:solidFill>
                  <a:srgbClr val="94A3B8"/>
                </a:solidFill>
                <a:latin typeface="Calibri"/>
              </a:defRPr>
            </a:pPr>
            <a:r>
              <a:t>ACADEMIC YEAR</a:t>
            </a:r>
          </a:p>
          <a:p>
            <a:pPr>
              <a:spcAft>
                <a:spcPts val="800"/>
              </a:spcAft>
              <a:defRPr sz="1100" b="1">
                <a:solidFill>
                  <a:srgbClr val="FFFFFF"/>
                </a:solidFill>
                <a:latin typeface="Calibri"/>
              </a:defRPr>
            </a:pPr>
            <a:r>
              <a:t>[ENTER ACADEMIC YEAR]</a:t>
            </a:r>
          </a:p>
        </p:txBody>
      </p:sp>
      <p:sp>
        <p:nvSpPr>
          <p:cNvPr id="7" name="TextBox 6"/>
          <p:cNvSpPr txBox="1"/>
          <p:nvPr/>
        </p:nvSpPr>
        <p:spPr>
          <a:xfrm>
            <a:off x="822960" y="5943600"/>
            <a:ext cx="6858000" cy="365760"/>
          </a:xfrm>
          <a:prstGeom prst="rect">
            <a:avLst/>
          </a:prstGeom>
          <a:noFill/>
        </p:spPr>
        <p:txBody>
          <a:bodyPr wrap="none">
            <a:spAutoFit/>
          </a:bodyPr>
          <a:lstStyle/>
          <a:p>
            <a:pPr>
              <a:defRPr sz="950">
                <a:solidFill>
                  <a:srgbClr val="94A3B8"/>
                </a:solidFill>
              </a:defRPr>
            </a:pPr>
            <a:r>
              <a:t>Python 3  |  Scikit-Learn  |  Streamlit  |  Pandas  |  NumPy  |  Plotly  |  Pytest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PROJECT CONTEXT</a:t>
            </a:r>
          </a:p>
          <a:p>
            <a:pPr>
              <a:defRPr sz="2200" b="1">
                <a:solidFill>
                  <a:srgbClr val="0F2042"/>
                </a:solidFill>
                <a:latin typeface="Calibri"/>
              </a:defRPr>
            </a:pPr>
            <a:r>
              <a:t>Introduction to Stock Return Forecasting</a:t>
            </a:r>
          </a:p>
          <a:p>
            <a:pPr>
              <a:defRPr sz="1100">
                <a:solidFill>
                  <a:srgbClr val="64748B"/>
                </a:solidFill>
                <a:latin typeface="Calibri"/>
              </a:defRPr>
            </a:pPr>
            <a:r>
              <a:t>Understanding the distinction between non-stationary stock prices and stationary percentage returns.</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2 / 21</a:t>
            </a:r>
          </a:p>
        </p:txBody>
      </p:sp>
      <p:sp>
        <p:nvSpPr>
          <p:cNvPr id="8" name="Rectangle 7"/>
          <p:cNvSpPr/>
          <p:nvPr/>
        </p:nvSpPr>
        <p:spPr>
          <a:xfrm>
            <a:off x="731520" y="1463040"/>
            <a:ext cx="521208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754880" cy="4297680"/>
          </a:xfrm>
          <a:prstGeom prst="rect">
            <a:avLst/>
          </a:prstGeom>
          <a:noFill/>
        </p:spPr>
        <p:txBody>
          <a:bodyPr wrap="square">
            <a:spAutoFit/>
          </a:bodyPr>
          <a:lstStyle/>
          <a:p>
            <a:pPr>
              <a:spcAft>
                <a:spcPts val="1000"/>
              </a:spcAft>
              <a:defRPr b="1" sz="1600">
                <a:solidFill>
                  <a:srgbClr val="0F2042"/>
                </a:solidFill>
              </a:defRPr>
            </a:pPr>
            <a:r>
              <a:t>Financial Market Data &amp; Returns</a:t>
            </a:r>
          </a:p>
          <a:p>
            <a:pPr>
              <a:spcAft>
                <a:spcPts val="1000"/>
              </a:spcAft>
              <a:defRPr sz="1200">
                <a:solidFill>
                  <a:srgbClr val="1E293B"/>
                </a:solidFill>
                <a:latin typeface="Calibri"/>
              </a:defRPr>
            </a:pPr>
            <a:r>
              <a:rPr b="1">
                <a:solidFill>
                  <a:srgbClr val="0F2042"/>
                </a:solidFill>
              </a:rPr>
              <a:t>• Historical Stock Market Data:</a:t>
            </a:r>
            <a:r>
              <a:rPr b="0">
                <a:solidFill>
                  <a:srgbClr val="1E293B"/>
                </a:solidFill>
              </a:rPr>
              <a:t> Comprises daily Open, High, Low, Close (OHLC) prices, Adjusted Close, and traded share Volume.</a:t>
            </a:r>
          </a:p>
          <a:p>
            <a:pPr>
              <a:spcAft>
                <a:spcPts val="1000"/>
              </a:spcAft>
              <a:defRPr sz="1200">
                <a:solidFill>
                  <a:srgbClr val="1E293B"/>
                </a:solidFill>
                <a:latin typeface="Calibri"/>
              </a:defRPr>
            </a:pPr>
            <a:r>
              <a:rPr b="1">
                <a:solidFill>
                  <a:srgbClr val="0F2042"/>
                </a:solidFill>
              </a:rPr>
              <a:t>• Prices vs. Returns:</a:t>
            </a:r>
            <a:r>
              <a:rPr b="0">
                <a:solidFill>
                  <a:srgbClr val="1E293B"/>
                </a:solidFill>
              </a:rPr>
              <a:t> Stock prices drift significantly over multi-decade horizons (non-stationary mean and variance), making raw price prediction unstable.</a:t>
            </a:r>
          </a:p>
          <a:p>
            <a:pPr>
              <a:spcAft>
                <a:spcPts val="1000"/>
              </a:spcAft>
              <a:defRPr sz="1200">
                <a:solidFill>
                  <a:srgbClr val="1E293B"/>
                </a:solidFill>
                <a:latin typeface="Calibri"/>
              </a:defRPr>
            </a:pPr>
            <a:r>
              <a:rPr b="1">
                <a:solidFill>
                  <a:srgbClr val="0F2042"/>
                </a:solidFill>
              </a:rPr>
              <a:t>• Stationarity of Returns:</a:t>
            </a:r>
            <a:r>
              <a:rPr b="0">
                <a:solidFill>
                  <a:srgbClr val="1E293B"/>
                </a:solidFill>
              </a:rPr>
              <a:t> Daily percentage returns reflect relative day-to-day percentage changes, centering stably near 0% across market cycles.</a:t>
            </a:r>
          </a:p>
          <a:p>
            <a:pPr>
              <a:spcAft>
                <a:spcPts val="1000"/>
              </a:spcAft>
              <a:defRPr sz="1200">
                <a:solidFill>
                  <a:srgbClr val="1E293B"/>
                </a:solidFill>
                <a:latin typeface="Calibri"/>
              </a:defRPr>
            </a:pPr>
            <a:r>
              <a:rPr b="1">
                <a:solidFill>
                  <a:srgbClr val="0F2042"/>
                </a:solidFill>
              </a:rPr>
              <a:t>• Prediction Target:</a:t>
            </a:r>
            <a:r>
              <a:rPr b="0">
                <a:solidFill>
                  <a:srgbClr val="1E293B"/>
                </a:solidFill>
              </a:rPr>
              <a:t> The objective is forecasting next-trading-day return (target_return = close_{t+1} / close_t - 1) using end-of-day information.</a:t>
            </a:r>
          </a:p>
        </p:txBody>
      </p:sp>
      <p:sp>
        <p:nvSpPr>
          <p:cNvPr id="10" name="Rectangle 9"/>
          <p:cNvSpPr/>
          <p:nvPr/>
        </p:nvSpPr>
        <p:spPr>
          <a:xfrm>
            <a:off x="6217920" y="1463040"/>
            <a:ext cx="521208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54880" cy="4297680"/>
          </a:xfrm>
          <a:prstGeom prst="rect">
            <a:avLst/>
          </a:prstGeom>
          <a:noFill/>
        </p:spPr>
        <p:txBody>
          <a:bodyPr wrap="square">
            <a:spAutoFit/>
          </a:bodyPr>
          <a:lstStyle/>
          <a:p>
            <a:pPr>
              <a:spcAft>
                <a:spcPts val="1000"/>
              </a:spcAft>
              <a:defRPr b="1" sz="1600">
                <a:solidFill>
                  <a:srgbClr val="0F2042"/>
                </a:solidFill>
              </a:defRPr>
            </a:pPr>
            <a:r>
              <a:t>Role of Machine Learning &amp; Regularization</a:t>
            </a:r>
          </a:p>
          <a:p>
            <a:pPr>
              <a:spcAft>
                <a:spcPts val="1000"/>
              </a:spcAft>
              <a:defRPr sz="1200">
                <a:solidFill>
                  <a:srgbClr val="1E293B"/>
                </a:solidFill>
                <a:latin typeface="Calibri"/>
              </a:defRPr>
            </a:pPr>
            <a:r>
              <a:rPr b="1">
                <a:solidFill>
                  <a:srgbClr val="0F2042"/>
                </a:solidFill>
              </a:rPr>
              <a:t>• High Multicollinearity:</a:t>
            </a:r>
            <a:r>
              <a:rPr b="0">
                <a:solidFill>
                  <a:srgbClr val="1E293B"/>
                </a:solidFill>
              </a:rPr>
              <a:t> Same-day OHLC prices share near-perfect correlation (r &gt; 0.98), destabilizing standard Ordinary Least Squares (OLS).</a:t>
            </a:r>
          </a:p>
          <a:p>
            <a:pPr>
              <a:spcAft>
                <a:spcPts val="1000"/>
              </a:spcAft>
              <a:defRPr sz="1200">
                <a:solidFill>
                  <a:srgbClr val="1E293B"/>
                </a:solidFill>
                <a:latin typeface="Calibri"/>
              </a:defRPr>
            </a:pPr>
            <a:r>
              <a:rPr b="1">
                <a:solidFill>
                  <a:srgbClr val="0F2042"/>
                </a:solidFill>
              </a:rPr>
              <a:t>• Ridge Regression (L2 Regularization):</a:t>
            </a:r>
            <a:r>
              <a:rPr b="0">
                <a:solidFill>
                  <a:srgbClr val="1E293B"/>
                </a:solidFill>
              </a:rPr>
              <a:t> Shrinks regression weights smoothly toward zero, minimizing variance caused by collinear inputs.</a:t>
            </a:r>
          </a:p>
          <a:p>
            <a:pPr>
              <a:spcAft>
                <a:spcPts val="1000"/>
              </a:spcAft>
              <a:defRPr sz="1200">
                <a:solidFill>
                  <a:srgbClr val="1E293B"/>
                </a:solidFill>
                <a:latin typeface="Calibri"/>
              </a:defRPr>
            </a:pPr>
            <a:r>
              <a:rPr b="1">
                <a:solidFill>
                  <a:srgbClr val="0F2042"/>
                </a:solidFill>
              </a:rPr>
              <a:t>• Lasso Regression (L1 Regularization):</a:t>
            </a:r>
            <a:r>
              <a:rPr b="0">
                <a:solidFill>
                  <a:srgbClr val="1E293B"/>
                </a:solidFill>
              </a:rPr>
              <a:t> Enforces sparsity by setting non-informative or redundant feature weights to exact zero (feature selection).</a:t>
            </a:r>
          </a:p>
          <a:p>
            <a:pPr>
              <a:spcAft>
                <a:spcPts val="1000"/>
              </a:spcAft>
              <a:defRPr sz="1200">
                <a:solidFill>
                  <a:srgbClr val="1E293B"/>
                </a:solidFill>
                <a:latin typeface="Calibri"/>
              </a:defRPr>
            </a:pPr>
            <a:r>
              <a:rPr b="1">
                <a:solidFill>
                  <a:srgbClr val="0F2042"/>
                </a:solidFill>
              </a:rPr>
              <a:t>• Automated Educational System:</a:t>
            </a:r>
            <a:r>
              <a:rPr b="0">
                <a:solidFill>
                  <a:srgbClr val="1E293B"/>
                </a:solidFill>
              </a:rPr>
              <a:t> Provides a guided web application for students and analysts to upload CSVs, run automated preprocessing, and benchmark both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PROBLEM FORMULATION</a:t>
            </a:r>
          </a:p>
          <a:p>
            <a:pPr>
              <a:defRPr sz="2200" b="1">
                <a:solidFill>
                  <a:srgbClr val="0F2042"/>
                </a:solidFill>
                <a:latin typeface="Calibri"/>
              </a:defRPr>
            </a:pPr>
            <a:r>
              <a:t>Problem Statement &amp; Analytical Challenges</a:t>
            </a:r>
          </a:p>
          <a:p>
            <a:pPr>
              <a:defRPr sz="1100">
                <a:solidFill>
                  <a:srgbClr val="64748B"/>
                </a:solidFill>
                <a:latin typeface="Calibri"/>
              </a:defRPr>
            </a:pPr>
            <a:r>
              <a:t>Key technical challenges encountered in automated stock dataset processing and model evaluation.</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3 / 21</a:t>
            </a:r>
          </a:p>
        </p:txBody>
      </p:sp>
      <p:sp>
        <p:nvSpPr>
          <p:cNvPr id="8" name="Rectangle 7"/>
          <p:cNvSpPr/>
          <p:nvPr/>
        </p:nvSpPr>
        <p:spPr>
          <a:xfrm>
            <a:off x="731520" y="1463040"/>
            <a:ext cx="347472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3108960" cy="4297680"/>
          </a:xfrm>
          <a:prstGeom prst="rect">
            <a:avLst/>
          </a:prstGeom>
          <a:noFill/>
        </p:spPr>
        <p:txBody>
          <a:bodyPr wrap="square">
            <a:spAutoFit/>
          </a:bodyPr>
          <a:lstStyle/>
          <a:p>
            <a:pPr>
              <a:spcAft>
                <a:spcPts val="1000"/>
              </a:spcAft>
              <a:defRPr b="1" sz="1400">
                <a:solidFill>
                  <a:srgbClr val="0F2042"/>
                </a:solidFill>
              </a:defRPr>
            </a:pPr>
            <a:r>
              <a:t>1. Data Inconsistency &amp; Manual Overhead</a:t>
            </a:r>
          </a:p>
          <a:p>
            <a:pPr>
              <a:spcAft>
                <a:spcPts val="800"/>
              </a:spcAft>
              <a:defRPr sz="1100">
                <a:solidFill>
                  <a:srgbClr val="1E293B"/>
                </a:solidFill>
                <a:latin typeface="Calibri"/>
              </a:defRPr>
            </a:pPr>
            <a:r>
              <a:t>• Raw CSV files from diverse sources (Kaggle, Yahoo Finance, NSE) use inconsistent headers ('Date' vs 'Timestamp', 'Adj Close' vs 'Close').</a:t>
            </a:r>
          </a:p>
          <a:p>
            <a:pPr>
              <a:spcAft>
                <a:spcPts val="800"/>
              </a:spcAft>
              <a:defRPr sz="1100">
                <a:solidFill>
                  <a:srgbClr val="1E293B"/>
                </a:solidFill>
                <a:latin typeface="Calibri"/>
              </a:defRPr>
            </a:pPr>
            <a:r>
              <a:t>• Manual data cleaning in spreadsheets is error-prone, tedious, and non-reproducible for recurring analysis.</a:t>
            </a:r>
          </a:p>
          <a:p>
            <a:pPr>
              <a:spcAft>
                <a:spcPts val="800"/>
              </a:spcAft>
              <a:defRPr sz="1100">
                <a:solidFill>
                  <a:srgbClr val="1E293B"/>
                </a:solidFill>
                <a:latin typeface="Calibri"/>
              </a:defRPr>
            </a:pPr>
            <a:r>
              <a:t>• Missing observations, non-trading weekend records, and duplicate entries require robust automated normalization.</a:t>
            </a:r>
          </a:p>
        </p:txBody>
      </p:sp>
      <p:sp>
        <p:nvSpPr>
          <p:cNvPr id="10" name="Rectangle 9"/>
          <p:cNvSpPr/>
          <p:nvPr/>
        </p:nvSpPr>
        <p:spPr>
          <a:xfrm>
            <a:off x="4343400" y="1463040"/>
            <a:ext cx="347472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45920"/>
            <a:ext cx="3108960" cy="4297680"/>
          </a:xfrm>
          <a:prstGeom prst="rect">
            <a:avLst/>
          </a:prstGeom>
          <a:noFill/>
        </p:spPr>
        <p:txBody>
          <a:bodyPr wrap="square">
            <a:spAutoFit/>
          </a:bodyPr>
          <a:lstStyle/>
          <a:p>
            <a:pPr>
              <a:spcAft>
                <a:spcPts val="1000"/>
              </a:spcAft>
              <a:defRPr b="1" sz="1400">
                <a:solidFill>
                  <a:srgbClr val="0F2042"/>
                </a:solidFill>
              </a:defRPr>
            </a:pPr>
            <a:r>
              <a:t>2. Look-Ahead Bias &amp; Data Leakage Pitfalls</a:t>
            </a:r>
          </a:p>
          <a:p>
            <a:pPr>
              <a:spcAft>
                <a:spcPts val="800"/>
              </a:spcAft>
              <a:defRPr sz="1100">
                <a:solidFill>
                  <a:srgbClr val="1E293B"/>
                </a:solidFill>
                <a:latin typeface="Calibri"/>
              </a:defRPr>
            </a:pPr>
            <a:r>
              <a:t>• A frequent error in academic ML projects is using random train-test splitting (e.g., standard train_test_split), which leaks future prices into past training.</a:t>
            </a:r>
          </a:p>
          <a:p>
            <a:pPr>
              <a:spcAft>
                <a:spcPts val="800"/>
              </a:spcAft>
              <a:defRPr sz="1100">
                <a:solidFill>
                  <a:srgbClr val="1E293B"/>
                </a:solidFill>
                <a:latin typeface="Calibri"/>
              </a:defRPr>
            </a:pPr>
            <a:r>
              <a:t>• Feature scaling (StandardScaler) must be fitted strictly on the training partition only; leaking test statistics yields overly optimistic, false results.</a:t>
            </a:r>
          </a:p>
          <a:p>
            <a:pPr>
              <a:spcAft>
                <a:spcPts val="800"/>
              </a:spcAft>
              <a:defRPr sz="1100">
                <a:solidFill>
                  <a:srgbClr val="1E293B"/>
                </a:solidFill>
                <a:latin typeface="Calibri"/>
              </a:defRPr>
            </a:pPr>
            <a:r>
              <a:t>• Target construction must strictly shift prices forward by exactly one session without leaking t+1 values into t features.</a:t>
            </a:r>
          </a:p>
        </p:txBody>
      </p:sp>
      <p:sp>
        <p:nvSpPr>
          <p:cNvPr id="12" name="Rectangle 11"/>
          <p:cNvSpPr/>
          <p:nvPr/>
        </p:nvSpPr>
        <p:spPr>
          <a:xfrm>
            <a:off x="7955280" y="1463040"/>
            <a:ext cx="347472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645920"/>
            <a:ext cx="3108960" cy="4297680"/>
          </a:xfrm>
          <a:prstGeom prst="rect">
            <a:avLst/>
          </a:prstGeom>
          <a:noFill/>
        </p:spPr>
        <p:txBody>
          <a:bodyPr wrap="square">
            <a:spAutoFit/>
          </a:bodyPr>
          <a:lstStyle/>
          <a:p>
            <a:pPr>
              <a:spcAft>
                <a:spcPts val="1000"/>
              </a:spcAft>
              <a:defRPr b="1" sz="1400">
                <a:solidFill>
                  <a:srgbClr val="0F2042"/>
                </a:solidFill>
              </a:defRPr>
            </a:pPr>
            <a:r>
              <a:t>3. High Market Noise &amp; Model Evaluation</a:t>
            </a:r>
          </a:p>
          <a:p>
            <a:pPr>
              <a:spcAft>
                <a:spcPts val="800"/>
              </a:spcAft>
              <a:defRPr sz="1100">
                <a:solidFill>
                  <a:srgbClr val="1E293B"/>
                </a:solidFill>
                <a:latin typeface="Calibri"/>
              </a:defRPr>
            </a:pPr>
            <a:r>
              <a:t>• Daily stock returns exhibit a notoriously low signal-to-noise ratio and fat-tailed distributions (leptokurtosis).</a:t>
            </a:r>
          </a:p>
          <a:p>
            <a:pPr>
              <a:spcAft>
                <a:spcPts val="800"/>
              </a:spcAft>
              <a:defRPr sz="1100">
                <a:solidFill>
                  <a:srgbClr val="1E293B"/>
                </a:solidFill>
                <a:latin typeface="Calibri"/>
              </a:defRPr>
            </a:pPr>
            <a:r>
              <a:t>• Linear models produce modest R² values; students need a tool that evaluates models honestly without fabricating unrealistic profit claims.</a:t>
            </a:r>
          </a:p>
          <a:p>
            <a:pPr>
              <a:spcAft>
                <a:spcPts val="800"/>
              </a:spcAft>
              <a:defRPr sz="1100">
                <a:solidFill>
                  <a:srgbClr val="1E293B"/>
                </a:solidFill>
                <a:latin typeface="Calibri"/>
              </a:defRPr>
            </a:pPr>
            <a:r>
              <a:t>• Requires an integrated web interface that prevents premature prediction before models are properly trained on validated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WHY THIS MATTERS</a:t>
            </a:r>
          </a:p>
          <a:p>
            <a:pPr>
              <a:defRPr sz="2200" b="1">
                <a:solidFill>
                  <a:srgbClr val="0F2042"/>
                </a:solidFill>
                <a:latin typeface="Calibri"/>
              </a:defRPr>
            </a:pPr>
            <a:r>
              <a:t>Motivation Behind the Project</a:t>
            </a:r>
          </a:p>
          <a:p>
            <a:pPr>
              <a:defRPr sz="1100">
                <a:solidFill>
                  <a:srgbClr val="64748B"/>
                </a:solidFill>
                <a:latin typeface="Calibri"/>
              </a:defRPr>
            </a:pPr>
            <a:r>
              <a:t>Bridging classroom machine learning concepts with practical financial data science workflows.</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4 / 21</a:t>
            </a:r>
          </a:p>
        </p:txBody>
      </p:sp>
      <p:sp>
        <p:nvSpPr>
          <p:cNvPr id="8" name="Rectangle 7"/>
          <p:cNvSpPr/>
          <p:nvPr/>
        </p:nvSpPr>
        <p:spPr>
          <a:xfrm>
            <a:off x="731520" y="1463040"/>
            <a:ext cx="347472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3108960" cy="4297680"/>
          </a:xfrm>
          <a:prstGeom prst="rect">
            <a:avLst/>
          </a:prstGeom>
          <a:noFill/>
        </p:spPr>
        <p:txBody>
          <a:bodyPr wrap="square">
            <a:spAutoFit/>
          </a:bodyPr>
          <a:lstStyle/>
          <a:p>
            <a:pPr>
              <a:spcAft>
                <a:spcPts val="1000"/>
              </a:spcAft>
              <a:defRPr b="1" sz="1400">
                <a:solidFill>
                  <a:srgbClr val="1E40AF"/>
                </a:solidFill>
              </a:defRPr>
            </a:pPr>
            <a:r>
              <a:t>Bridging ML Theory &amp; Finance</a:t>
            </a:r>
          </a:p>
          <a:p>
            <a:pPr>
              <a:spcAft>
                <a:spcPts val="800"/>
              </a:spcAft>
              <a:defRPr sz="1100">
                <a:solidFill>
                  <a:srgbClr val="1E293B"/>
                </a:solidFill>
                <a:latin typeface="Calibri"/>
              </a:defRPr>
            </a:pPr>
            <a:r>
              <a:t>• Financial markets offer vast, accessible real-world data perfect for studying regression mechanics.</a:t>
            </a:r>
          </a:p>
          <a:p>
            <a:pPr>
              <a:spcAft>
                <a:spcPts val="800"/>
              </a:spcAft>
              <a:defRPr sz="1100">
                <a:solidFill>
                  <a:srgbClr val="1E293B"/>
                </a:solidFill>
                <a:latin typeface="Calibri"/>
              </a:defRPr>
            </a:pPr>
            <a:r>
              <a:t>• Transforms abstract textbook concepts (L1 vs L2 regularization, multicollinearity, loss penalties) into tangible visual demonstrations.</a:t>
            </a:r>
          </a:p>
          <a:p>
            <a:pPr>
              <a:spcAft>
                <a:spcPts val="800"/>
              </a:spcAft>
              <a:defRPr sz="1100">
                <a:solidFill>
                  <a:srgbClr val="1E293B"/>
                </a:solidFill>
                <a:latin typeface="Calibri"/>
              </a:defRPr>
            </a:pPr>
            <a:r>
              <a:t>• Teaches the necessity of statistical stationarity when working with time-dependent attributes.</a:t>
            </a:r>
          </a:p>
        </p:txBody>
      </p:sp>
      <p:sp>
        <p:nvSpPr>
          <p:cNvPr id="10" name="Rectangle 9"/>
          <p:cNvSpPr/>
          <p:nvPr/>
        </p:nvSpPr>
        <p:spPr>
          <a:xfrm>
            <a:off x="4343400" y="1463040"/>
            <a:ext cx="347472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45920"/>
            <a:ext cx="3108960" cy="4297680"/>
          </a:xfrm>
          <a:prstGeom prst="rect">
            <a:avLst/>
          </a:prstGeom>
          <a:noFill/>
        </p:spPr>
        <p:txBody>
          <a:bodyPr wrap="square">
            <a:spAutoFit/>
          </a:bodyPr>
          <a:lstStyle/>
          <a:p>
            <a:pPr>
              <a:spcAft>
                <a:spcPts val="1000"/>
              </a:spcAft>
              <a:defRPr b="1" sz="1400">
                <a:solidFill>
                  <a:srgbClr val="1E40AF"/>
                </a:solidFill>
              </a:defRPr>
            </a:pPr>
            <a:r>
              <a:t>Pedagogical Value of Model Comparison</a:t>
            </a:r>
          </a:p>
          <a:p>
            <a:pPr>
              <a:spcAft>
                <a:spcPts val="800"/>
              </a:spcAft>
              <a:defRPr sz="1100">
                <a:solidFill>
                  <a:srgbClr val="1E293B"/>
                </a:solidFill>
                <a:latin typeface="Calibri"/>
              </a:defRPr>
            </a:pPr>
            <a:r>
              <a:t>• Direct empirical comparison between Ridge (smooth weight shrinkage) and Lasso (exact zero weight feature selection).</a:t>
            </a:r>
          </a:p>
          <a:p>
            <a:pPr>
              <a:spcAft>
                <a:spcPts val="800"/>
              </a:spcAft>
              <a:defRPr sz="1100">
                <a:solidFill>
                  <a:srgbClr val="1E293B"/>
                </a:solidFill>
                <a:latin typeface="Calibri"/>
              </a:defRPr>
            </a:pPr>
            <a:r>
              <a:t>• Allows students and examiners to observe firsthand how Lasso naturally drops non-stationary price columns while retaining relative returns.</a:t>
            </a:r>
          </a:p>
          <a:p>
            <a:pPr>
              <a:spcAft>
                <a:spcPts val="800"/>
              </a:spcAft>
              <a:defRPr sz="1100">
                <a:solidFill>
                  <a:srgbClr val="1E293B"/>
                </a:solidFill>
                <a:latin typeface="Calibri"/>
              </a:defRPr>
            </a:pPr>
            <a:r>
              <a:t>• Demystifies hyperparameter tuning (alpha) using chronological TimeSeriesSplit cross-validation.</a:t>
            </a:r>
          </a:p>
        </p:txBody>
      </p:sp>
      <p:sp>
        <p:nvSpPr>
          <p:cNvPr id="12" name="Rectangle 11"/>
          <p:cNvSpPr/>
          <p:nvPr/>
        </p:nvSpPr>
        <p:spPr>
          <a:xfrm>
            <a:off x="7955280" y="1463040"/>
            <a:ext cx="347472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645920"/>
            <a:ext cx="3108960" cy="4297680"/>
          </a:xfrm>
          <a:prstGeom prst="rect">
            <a:avLst/>
          </a:prstGeom>
          <a:noFill/>
        </p:spPr>
        <p:txBody>
          <a:bodyPr wrap="square">
            <a:spAutoFit/>
          </a:bodyPr>
          <a:lstStyle/>
          <a:p>
            <a:pPr>
              <a:spcAft>
                <a:spcPts val="1000"/>
              </a:spcAft>
              <a:defRPr b="1" sz="1400">
                <a:solidFill>
                  <a:srgbClr val="1E40AF"/>
                </a:solidFill>
              </a:defRPr>
            </a:pPr>
            <a:r>
              <a:t>Need for an Accessible Analytical Tool</a:t>
            </a:r>
          </a:p>
          <a:p>
            <a:pPr>
              <a:spcAft>
                <a:spcPts val="800"/>
              </a:spcAft>
              <a:defRPr sz="1100">
                <a:solidFill>
                  <a:srgbClr val="1E293B"/>
                </a:solidFill>
                <a:latin typeface="Calibri"/>
              </a:defRPr>
            </a:pPr>
            <a:r>
              <a:t>• Removes the coding barrier for introductory data science students and researchers by providing an intuitive web interface.</a:t>
            </a:r>
          </a:p>
          <a:p>
            <a:pPr>
              <a:spcAft>
                <a:spcPts val="800"/>
              </a:spcAft>
              <a:defRPr sz="1100">
                <a:solidFill>
                  <a:srgbClr val="1E293B"/>
                </a:solidFill>
                <a:latin typeface="Calibri"/>
              </a:defRPr>
            </a:pPr>
            <a:r>
              <a:rPr b="1">
                <a:solidFill>
                  <a:srgbClr val="0F2042"/>
                </a:solidFill>
              </a:rPr>
              <a:t>• Fosters ethical, realistic AI education:</a:t>
            </a:r>
            <a:r>
              <a:rPr b="0">
                <a:solidFill>
                  <a:srgbClr val="1E293B"/>
                </a:solidFill>
              </a:rPr>
              <a:t> explicitly teaches model limitations rather than promoting unrealistic get-rich-quick claims.</a:t>
            </a:r>
          </a:p>
          <a:p>
            <a:pPr>
              <a:spcAft>
                <a:spcPts val="800"/>
              </a:spcAft>
              <a:defRPr sz="1100">
                <a:solidFill>
                  <a:srgbClr val="1E293B"/>
                </a:solidFill>
                <a:latin typeface="Calibri"/>
              </a:defRPr>
            </a:pPr>
            <a:r>
              <a:t>• Provides an end-to-end template for reproducible B.Tech engineering projects from CSV ingestion to exportable reports.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GOALS &amp; DELIVERABLES</a:t>
            </a:r>
          </a:p>
          <a:p>
            <a:pPr>
              <a:defRPr sz="2200" b="1">
                <a:solidFill>
                  <a:srgbClr val="0F2042"/>
                </a:solidFill>
                <a:latin typeface="Calibri"/>
              </a:defRPr>
            </a:pPr>
            <a:r>
              <a:t>Project Objectives</a:t>
            </a:r>
          </a:p>
          <a:p>
            <a:pPr>
              <a:defRPr sz="1100">
                <a:solidFill>
                  <a:srgbClr val="64748B"/>
                </a:solidFill>
                <a:latin typeface="Calibri"/>
              </a:defRPr>
            </a:pPr>
            <a:r>
              <a:t>Five clear, measurable engineering goals established for this project.</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5 / 21</a:t>
            </a:r>
          </a:p>
        </p:txBody>
      </p:sp>
      <p:sp>
        <p:nvSpPr>
          <p:cNvPr id="8" name="Rectangle 7"/>
          <p:cNvSpPr/>
          <p:nvPr/>
        </p:nvSpPr>
        <p:spPr>
          <a:xfrm>
            <a:off x="731520" y="1463040"/>
            <a:ext cx="731520" cy="822960"/>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731520" cy="457200"/>
          </a:xfrm>
          <a:prstGeom prst="rect">
            <a:avLst/>
          </a:prstGeom>
          <a:noFill/>
        </p:spPr>
        <p:txBody>
          <a:bodyPr wrap="none">
            <a:spAutoFit/>
          </a:bodyPr>
          <a:lstStyle/>
          <a:p>
            <a:pPr algn="ctr">
              <a:defRPr sz="1600" b="1">
                <a:solidFill>
                  <a:srgbClr val="FFFFFF"/>
                </a:solidFill>
                <a:latin typeface="Calibri"/>
              </a:defRPr>
            </a:pPr>
            <a:r>
              <a:t>01</a:t>
            </a:r>
          </a:p>
        </p:txBody>
      </p:sp>
      <p:sp>
        <p:nvSpPr>
          <p:cNvPr id="10" name="Rectangle 9"/>
          <p:cNvSpPr/>
          <p:nvPr/>
        </p:nvSpPr>
        <p:spPr>
          <a:xfrm>
            <a:off x="1554480" y="1463040"/>
            <a:ext cx="9875520" cy="8229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91640" y="1536192"/>
            <a:ext cx="9601200" cy="685800"/>
          </a:xfrm>
          <a:prstGeom prst="rect">
            <a:avLst/>
          </a:prstGeom>
          <a:noFill/>
        </p:spPr>
        <p:txBody>
          <a:bodyPr wrap="square" lIns="0" tIns="0">
            <a:spAutoFit/>
          </a:bodyPr>
          <a:lstStyle/>
          <a:p>
            <a:pPr>
              <a:spcAft>
                <a:spcPts val="200"/>
              </a:spcAft>
              <a:defRPr b="1" sz="1300">
                <a:solidFill>
                  <a:srgbClr val="0F2042"/>
                </a:solidFill>
              </a:defRPr>
            </a:pPr>
            <a:r>
              <a:t>1. Dynamic CSV Upload &amp; Schema Validation</a:t>
            </a:r>
          </a:p>
          <a:p>
            <a:pPr>
              <a:defRPr sz="1050">
                <a:solidFill>
                  <a:srgbClr val="1E293B"/>
                </a:solidFill>
              </a:defRPr>
            </a:pPr>
            <a:r>
              <a:t>Enable users to upload any standard historical stock-market CSV file, automatically mapping common column name variations (Date, Open, High, Low, Close, Volume, Adj Close) with robust error checks.</a:t>
            </a:r>
          </a:p>
        </p:txBody>
      </p:sp>
      <p:sp>
        <p:nvSpPr>
          <p:cNvPr id="12" name="Rectangle 11"/>
          <p:cNvSpPr/>
          <p:nvPr/>
        </p:nvSpPr>
        <p:spPr>
          <a:xfrm>
            <a:off x="731520" y="2423160"/>
            <a:ext cx="731520" cy="822960"/>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606040"/>
            <a:ext cx="731520" cy="457200"/>
          </a:xfrm>
          <a:prstGeom prst="rect">
            <a:avLst/>
          </a:prstGeom>
          <a:noFill/>
        </p:spPr>
        <p:txBody>
          <a:bodyPr wrap="none">
            <a:spAutoFit/>
          </a:bodyPr>
          <a:lstStyle/>
          <a:p>
            <a:pPr algn="ctr">
              <a:defRPr sz="1600" b="1">
                <a:solidFill>
                  <a:srgbClr val="FFFFFF"/>
                </a:solidFill>
                <a:latin typeface="Calibri"/>
              </a:defRPr>
            </a:pPr>
            <a:r>
              <a:t>02</a:t>
            </a:r>
          </a:p>
        </p:txBody>
      </p:sp>
      <p:sp>
        <p:nvSpPr>
          <p:cNvPr id="14" name="Rectangle 13"/>
          <p:cNvSpPr/>
          <p:nvPr/>
        </p:nvSpPr>
        <p:spPr>
          <a:xfrm>
            <a:off x="1554480" y="2423160"/>
            <a:ext cx="9875520" cy="8229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91640" y="2496312"/>
            <a:ext cx="9601200" cy="685800"/>
          </a:xfrm>
          <a:prstGeom prst="rect">
            <a:avLst/>
          </a:prstGeom>
          <a:noFill/>
        </p:spPr>
        <p:txBody>
          <a:bodyPr wrap="square" lIns="0" tIns="0">
            <a:spAutoFit/>
          </a:bodyPr>
          <a:lstStyle/>
          <a:p>
            <a:pPr>
              <a:spcAft>
                <a:spcPts val="200"/>
              </a:spcAft>
              <a:defRPr b="1" sz="1300">
                <a:solidFill>
                  <a:srgbClr val="0F2042"/>
                </a:solidFill>
              </a:defRPr>
            </a:pPr>
            <a:r>
              <a:t>2. Automated &amp; Leakage-Free Preprocessing</a:t>
            </a:r>
          </a:p>
          <a:p>
            <a:pPr>
              <a:defRPr sz="1050">
                <a:solidFill>
                  <a:srgbClr val="1E293B"/>
                </a:solidFill>
              </a:defRPr>
            </a:pPr>
            <a:r>
              <a:t>Clean uploaded datasets by parsing dates, sorting chronologically, removing duplicates and invalid OHLC prices without overwriting raw data or fabricating artificial stock values.</a:t>
            </a:r>
          </a:p>
        </p:txBody>
      </p:sp>
      <p:sp>
        <p:nvSpPr>
          <p:cNvPr id="16" name="Rectangle 15"/>
          <p:cNvSpPr/>
          <p:nvPr/>
        </p:nvSpPr>
        <p:spPr>
          <a:xfrm>
            <a:off x="731520" y="3383280"/>
            <a:ext cx="731520" cy="822960"/>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566160"/>
            <a:ext cx="731520" cy="457200"/>
          </a:xfrm>
          <a:prstGeom prst="rect">
            <a:avLst/>
          </a:prstGeom>
          <a:noFill/>
        </p:spPr>
        <p:txBody>
          <a:bodyPr wrap="none">
            <a:spAutoFit/>
          </a:bodyPr>
          <a:lstStyle/>
          <a:p>
            <a:pPr algn="ctr">
              <a:defRPr sz="1600" b="1">
                <a:solidFill>
                  <a:srgbClr val="FFFFFF"/>
                </a:solidFill>
                <a:latin typeface="Calibri"/>
              </a:defRPr>
            </a:pPr>
            <a:r>
              <a:t>03</a:t>
            </a:r>
          </a:p>
        </p:txBody>
      </p:sp>
      <p:sp>
        <p:nvSpPr>
          <p:cNvPr id="18" name="Rectangle 17"/>
          <p:cNvSpPr/>
          <p:nvPr/>
        </p:nvSpPr>
        <p:spPr>
          <a:xfrm>
            <a:off x="1554480" y="3383280"/>
            <a:ext cx="9875520" cy="8229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91640" y="3456432"/>
            <a:ext cx="9601200" cy="685800"/>
          </a:xfrm>
          <a:prstGeom prst="rect">
            <a:avLst/>
          </a:prstGeom>
          <a:noFill/>
        </p:spPr>
        <p:txBody>
          <a:bodyPr wrap="square" lIns="0" tIns="0">
            <a:spAutoFit/>
          </a:bodyPr>
          <a:lstStyle/>
          <a:p>
            <a:pPr>
              <a:spcAft>
                <a:spcPts val="200"/>
              </a:spcAft>
              <a:defRPr b="1" sz="1300">
                <a:solidFill>
                  <a:srgbClr val="0F2042"/>
                </a:solidFill>
              </a:defRPr>
            </a:pPr>
            <a:r>
              <a:t>3. Comprehensive Exploratory Data Analysis (EDA)</a:t>
            </a:r>
          </a:p>
          <a:p>
            <a:pPr>
              <a:defRPr sz="1050">
                <a:solidFill>
                  <a:srgbClr val="1E293B"/>
                </a:solidFill>
              </a:defRPr>
            </a:pPr>
            <a:r>
              <a:t>Generate 7 automated financial charts (price trends, volume moving averages, return distributions, correlation heatmaps, boxplots) with interactive date filtering and PNG exports.</a:t>
            </a:r>
          </a:p>
        </p:txBody>
      </p:sp>
      <p:sp>
        <p:nvSpPr>
          <p:cNvPr id="20" name="Rectangle 19"/>
          <p:cNvSpPr/>
          <p:nvPr/>
        </p:nvSpPr>
        <p:spPr>
          <a:xfrm>
            <a:off x="731520" y="4343400"/>
            <a:ext cx="731520" cy="822960"/>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526280"/>
            <a:ext cx="731520" cy="457200"/>
          </a:xfrm>
          <a:prstGeom prst="rect">
            <a:avLst/>
          </a:prstGeom>
          <a:noFill/>
        </p:spPr>
        <p:txBody>
          <a:bodyPr wrap="none">
            <a:spAutoFit/>
          </a:bodyPr>
          <a:lstStyle/>
          <a:p>
            <a:pPr algn="ctr">
              <a:defRPr sz="1600" b="1">
                <a:solidFill>
                  <a:srgbClr val="FFFFFF"/>
                </a:solidFill>
                <a:latin typeface="Calibri"/>
              </a:defRPr>
            </a:pPr>
            <a:r>
              <a:t>04</a:t>
            </a:r>
          </a:p>
        </p:txBody>
      </p:sp>
      <p:sp>
        <p:nvSpPr>
          <p:cNvPr id="22" name="Rectangle 21"/>
          <p:cNvSpPr/>
          <p:nvPr/>
        </p:nvSpPr>
        <p:spPr>
          <a:xfrm>
            <a:off x="1554480" y="4343400"/>
            <a:ext cx="9875520" cy="8229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91640" y="4416552"/>
            <a:ext cx="9601200" cy="685800"/>
          </a:xfrm>
          <a:prstGeom prst="rect">
            <a:avLst/>
          </a:prstGeom>
          <a:noFill/>
        </p:spPr>
        <p:txBody>
          <a:bodyPr wrap="square" lIns="0" tIns="0">
            <a:spAutoFit/>
          </a:bodyPr>
          <a:lstStyle/>
          <a:p>
            <a:pPr>
              <a:spcAft>
                <a:spcPts val="200"/>
              </a:spcAft>
              <a:defRPr b="1" sz="1300">
                <a:solidFill>
                  <a:srgbClr val="0F2042"/>
                </a:solidFill>
              </a:defRPr>
            </a:pPr>
            <a:r>
              <a:t>4. Pipeline-Based Regularized Model Training</a:t>
            </a:r>
          </a:p>
          <a:p>
            <a:pPr>
              <a:defRPr sz="1050">
                <a:solidFill>
                  <a:srgbClr val="1E293B"/>
                </a:solidFill>
              </a:defRPr>
            </a:pPr>
            <a:r>
              <a:t>Implement scikit-learn Pipelines combining StandardScaler with Ridge (L2) and Lasso (L1) regression, tuned strictly via chronological TimeSeriesSplit cross-validation on an 80% training split.</a:t>
            </a:r>
          </a:p>
        </p:txBody>
      </p:sp>
      <p:sp>
        <p:nvSpPr>
          <p:cNvPr id="24" name="Rectangle 23"/>
          <p:cNvSpPr/>
          <p:nvPr/>
        </p:nvSpPr>
        <p:spPr>
          <a:xfrm>
            <a:off x="731520" y="5303520"/>
            <a:ext cx="731520" cy="822960"/>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486400"/>
            <a:ext cx="731520" cy="457200"/>
          </a:xfrm>
          <a:prstGeom prst="rect">
            <a:avLst/>
          </a:prstGeom>
          <a:noFill/>
        </p:spPr>
        <p:txBody>
          <a:bodyPr wrap="none">
            <a:spAutoFit/>
          </a:bodyPr>
          <a:lstStyle/>
          <a:p>
            <a:pPr algn="ctr">
              <a:defRPr sz="1600" b="1">
                <a:solidFill>
                  <a:srgbClr val="FFFFFF"/>
                </a:solidFill>
                <a:latin typeface="Calibri"/>
              </a:defRPr>
            </a:pPr>
            <a:r>
              <a:t>05</a:t>
            </a:r>
          </a:p>
        </p:txBody>
      </p:sp>
      <p:sp>
        <p:nvSpPr>
          <p:cNvPr id="26" name="Rectangle 25"/>
          <p:cNvSpPr/>
          <p:nvPr/>
        </p:nvSpPr>
        <p:spPr>
          <a:xfrm>
            <a:off x="1554480" y="5303520"/>
            <a:ext cx="9875520" cy="8229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91640" y="5376672"/>
            <a:ext cx="9601200" cy="685800"/>
          </a:xfrm>
          <a:prstGeom prst="rect">
            <a:avLst/>
          </a:prstGeom>
          <a:noFill/>
        </p:spPr>
        <p:txBody>
          <a:bodyPr wrap="square" lIns="0" tIns="0">
            <a:spAutoFit/>
          </a:bodyPr>
          <a:lstStyle/>
          <a:p>
            <a:pPr>
              <a:spcAft>
                <a:spcPts val="200"/>
              </a:spcAft>
              <a:defRPr b="1" sz="1300">
                <a:solidFill>
                  <a:srgbClr val="0F2042"/>
                </a:solidFill>
              </a:defRPr>
            </a:pPr>
            <a:r>
              <a:t>5. Objective Evaluation &amp; Prediction Interface</a:t>
            </a:r>
          </a:p>
          <a:p>
            <a:pPr>
              <a:defRPr sz="1050">
                <a:solidFill>
                  <a:srgbClr val="1E293B"/>
                </a:solidFill>
              </a:defRPr>
            </a:pPr>
            <a:r>
              <a:t>Evaluate both models on the unseen 20% test partition (MAE, MSE, RMSE, R²), provide dual-mode next-day predictions (Mode A: Historical &amp; Mode B: Manual), and enable one-click report downloads.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CURRENT STATE OF PRACTICE</a:t>
            </a:r>
          </a:p>
          <a:p>
            <a:pPr>
              <a:defRPr sz="2200" b="1">
                <a:solidFill>
                  <a:srgbClr val="0F2042"/>
                </a:solidFill>
                <a:latin typeface="Calibri"/>
              </a:defRPr>
            </a:pPr>
            <a:r>
              <a:t>Existing Systems &amp; Traditional Approaches</a:t>
            </a:r>
          </a:p>
          <a:p>
            <a:pPr>
              <a:defRPr sz="1100">
                <a:solidFill>
                  <a:srgbClr val="64748B"/>
                </a:solidFill>
                <a:latin typeface="Calibri"/>
              </a:defRPr>
            </a:pPr>
            <a:r>
              <a:t>Examining conventional methods of financial data analysis and their inherent limitations.</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6 / 21</a:t>
            </a:r>
          </a:p>
        </p:txBody>
      </p:sp>
      <p:sp>
        <p:nvSpPr>
          <p:cNvPr id="8" name="Rectangle 7"/>
          <p:cNvSpPr/>
          <p:nvPr/>
        </p:nvSpPr>
        <p:spPr>
          <a:xfrm>
            <a:off x="731520" y="1463040"/>
            <a:ext cx="521208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754880" cy="4297680"/>
          </a:xfrm>
          <a:prstGeom prst="rect">
            <a:avLst/>
          </a:prstGeom>
          <a:noFill/>
        </p:spPr>
        <p:txBody>
          <a:bodyPr wrap="square">
            <a:spAutoFit/>
          </a:bodyPr>
          <a:lstStyle/>
          <a:p>
            <a:pPr>
              <a:spcAft>
                <a:spcPts val="1000"/>
              </a:spcAft>
              <a:defRPr b="1" sz="1600">
                <a:solidFill>
                  <a:srgbClr val="0F2042"/>
                </a:solidFill>
              </a:defRPr>
            </a:pPr>
            <a:r>
              <a:t>Common Conventional Approaches</a:t>
            </a:r>
          </a:p>
          <a:p>
            <a:pPr>
              <a:spcAft>
                <a:spcPts val="1000"/>
              </a:spcAft>
              <a:defRPr sz="1200">
                <a:solidFill>
                  <a:srgbClr val="1E293B"/>
                </a:solidFill>
                <a:latin typeface="Calibri"/>
              </a:defRPr>
            </a:pPr>
            <a:r>
              <a:rPr b="1">
                <a:solidFill>
                  <a:srgbClr val="0F2042"/>
                </a:solidFill>
              </a:rPr>
              <a:t>• Spreadsheet-Based Analysis:</a:t>
            </a:r>
            <a:r>
              <a:rPr b="0">
                <a:solidFill>
                  <a:srgbClr val="1E293B"/>
                </a:solidFill>
              </a:rPr>
              <a:t> Analysts frequently use Excel or Google Sheets for manual formula calculations, moving averages, and basic charts.</a:t>
            </a:r>
          </a:p>
          <a:p>
            <a:pPr>
              <a:spcAft>
                <a:spcPts val="1000"/>
              </a:spcAft>
              <a:defRPr sz="1200">
                <a:solidFill>
                  <a:srgbClr val="1E293B"/>
                </a:solidFill>
                <a:latin typeface="Calibri"/>
              </a:defRPr>
            </a:pPr>
            <a:r>
              <a:rPr b="1">
                <a:solidFill>
                  <a:srgbClr val="0F2042"/>
                </a:solidFill>
              </a:rPr>
              <a:t>• Disconnected Python Scripts:</a:t>
            </a:r>
            <a:r>
              <a:rPr b="0">
                <a:solidFill>
                  <a:srgbClr val="1E293B"/>
                </a:solidFill>
              </a:rPr>
              <a:t> Separate ad-hoc scripts written for data loading, another for plotting, and another for modeling, lacking a unified interface.</a:t>
            </a:r>
          </a:p>
          <a:p>
            <a:pPr>
              <a:spcAft>
                <a:spcPts val="1000"/>
              </a:spcAft>
              <a:defRPr sz="1200">
                <a:solidFill>
                  <a:srgbClr val="1E293B"/>
                </a:solidFill>
                <a:latin typeface="Calibri"/>
              </a:defRPr>
            </a:pPr>
            <a:r>
              <a:rPr b="1">
                <a:solidFill>
                  <a:srgbClr val="0F2042"/>
                </a:solidFill>
              </a:rPr>
              <a:t>• Classical Econometric Models:</a:t>
            </a:r>
            <a:r>
              <a:rPr b="0">
                <a:solidFill>
                  <a:srgbClr val="1E293B"/>
                </a:solidFill>
              </a:rPr>
              <a:t> Traditional time-series modeling (e.g., ARIMA) requires manual order identification (p, d, q) and assumes strict linear Gaussian noise.</a:t>
            </a:r>
          </a:p>
          <a:p>
            <a:pPr>
              <a:spcAft>
                <a:spcPts val="1000"/>
              </a:spcAft>
              <a:defRPr sz="1200">
                <a:solidFill>
                  <a:srgbClr val="1E293B"/>
                </a:solidFill>
                <a:latin typeface="Calibri"/>
              </a:defRPr>
            </a:pPr>
            <a:r>
              <a:rPr b="1">
                <a:solidFill>
                  <a:srgbClr val="0F2042"/>
                </a:solidFill>
              </a:rPr>
              <a:t>• Code-Heavy ML Notebooks:</a:t>
            </a:r>
            <a:r>
              <a:rPr b="0">
                <a:solidFill>
                  <a:srgbClr val="1E293B"/>
                </a:solidFill>
              </a:rPr>
              <a:t> Jupyter notebooks that require manual code modifications whenever a new CSV dataset or ticker is analyzed.</a:t>
            </a:r>
          </a:p>
        </p:txBody>
      </p:sp>
      <p:sp>
        <p:nvSpPr>
          <p:cNvPr id="10" name="Rectangle 9"/>
          <p:cNvSpPr/>
          <p:nvPr/>
        </p:nvSpPr>
        <p:spPr>
          <a:xfrm>
            <a:off x="6217920" y="1463040"/>
            <a:ext cx="521208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54880" cy="4297680"/>
          </a:xfrm>
          <a:prstGeom prst="rect">
            <a:avLst/>
          </a:prstGeom>
          <a:noFill/>
        </p:spPr>
        <p:txBody>
          <a:bodyPr wrap="square">
            <a:spAutoFit/>
          </a:bodyPr>
          <a:lstStyle/>
          <a:p>
            <a:pPr>
              <a:spcAft>
                <a:spcPts val="1000"/>
              </a:spcAft>
              <a:defRPr b="1" sz="1600">
                <a:solidFill>
                  <a:srgbClr val="DC2626"/>
                </a:solidFill>
              </a:defRPr>
            </a:pPr>
            <a:r>
              <a:t>Key Limitations &amp; Pitfalls</a:t>
            </a:r>
          </a:p>
          <a:p>
            <a:pPr>
              <a:spcAft>
                <a:spcPts val="1000"/>
              </a:spcAft>
              <a:defRPr sz="1200">
                <a:solidFill>
                  <a:srgbClr val="1E293B"/>
                </a:solidFill>
                <a:latin typeface="Calibri"/>
              </a:defRPr>
            </a:pPr>
            <a:r>
              <a:rPr b="1">
                <a:solidFill>
                  <a:srgbClr val="0F2042"/>
                </a:solidFill>
              </a:rPr>
              <a:t>• Repetitive Manual Effort:</a:t>
            </a:r>
            <a:r>
              <a:rPr b="0">
                <a:solidFill>
                  <a:srgbClr val="1E293B"/>
                </a:solidFill>
              </a:rPr>
              <a:t> Analysts must rewrite preprocessing scripts for every new dataset format or column naming convention.</a:t>
            </a:r>
          </a:p>
          <a:p>
            <a:pPr>
              <a:spcAft>
                <a:spcPts val="1000"/>
              </a:spcAft>
              <a:defRPr sz="1200">
                <a:solidFill>
                  <a:srgbClr val="1E293B"/>
                </a:solidFill>
                <a:latin typeface="Calibri"/>
              </a:defRPr>
            </a:pPr>
            <a:r>
              <a:rPr b="1">
                <a:solidFill>
                  <a:srgbClr val="0F2042"/>
                </a:solidFill>
              </a:rPr>
              <a:t>• High Risk of Data Leakage:</a:t>
            </a:r>
            <a:r>
              <a:rPr b="0">
                <a:solidFill>
                  <a:srgbClr val="1E293B"/>
                </a:solidFill>
              </a:rPr>
              <a:t> Standard train_test_split functions randomly shuffle data, introducing look-ahead bias and invalidating test results.</a:t>
            </a:r>
          </a:p>
          <a:p>
            <a:pPr>
              <a:spcAft>
                <a:spcPts val="1000"/>
              </a:spcAft>
              <a:defRPr sz="1200">
                <a:solidFill>
                  <a:srgbClr val="1E293B"/>
                </a:solidFill>
                <a:latin typeface="Calibri"/>
              </a:defRPr>
            </a:pPr>
            <a:r>
              <a:rPr b="1">
                <a:solidFill>
                  <a:srgbClr val="0F2042"/>
                </a:solidFill>
              </a:rPr>
              <a:t>• Lack of Fair Benchmarking:</a:t>
            </a:r>
            <a:r>
              <a:rPr b="0">
                <a:solidFill>
                  <a:srgbClr val="1E293B"/>
                </a:solidFill>
              </a:rPr>
              <a:t> Models are rarely evaluated on identical chronological splits with identical feature engineering pipelines.</a:t>
            </a:r>
          </a:p>
          <a:p>
            <a:pPr>
              <a:spcAft>
                <a:spcPts val="1000"/>
              </a:spcAft>
              <a:defRPr sz="1200">
                <a:solidFill>
                  <a:srgbClr val="1E293B"/>
                </a:solidFill>
                <a:latin typeface="Calibri"/>
              </a:defRPr>
            </a:pPr>
            <a:r>
              <a:rPr b="1">
                <a:solidFill>
                  <a:srgbClr val="0F2042"/>
                </a:solidFill>
              </a:rPr>
              <a:t>• Accessibility Barrier:</a:t>
            </a:r>
            <a:r>
              <a:rPr b="0">
                <a:solidFill>
                  <a:srgbClr val="1E293B"/>
                </a:solidFill>
              </a:rPr>
              <a:t> Non-technical users cannot readily upload a dataset, inspect data quality, or generate verified predictions.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OUR SOLUTION</a:t>
            </a:r>
          </a:p>
          <a:p>
            <a:pPr>
              <a:defRPr sz="2200" b="1">
                <a:solidFill>
                  <a:srgbClr val="0F2042"/>
                </a:solidFill>
                <a:latin typeface="Calibri"/>
              </a:defRPr>
            </a:pPr>
            <a:r>
              <a:t>Proposed System Architecture &amp; Capabilities</a:t>
            </a:r>
          </a:p>
          <a:p>
            <a:pPr>
              <a:defRPr sz="1100">
                <a:solidFill>
                  <a:srgbClr val="64748B"/>
                </a:solidFill>
                <a:latin typeface="Calibri"/>
              </a:defRPr>
            </a:pPr>
            <a:r>
              <a:t>An integrated, upload-driven machine learning web application built with Streamlit and Scikit-learn.</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7 / 21</a:t>
            </a:r>
          </a:p>
        </p:txBody>
      </p:sp>
      <p:sp>
        <p:nvSpPr>
          <p:cNvPr id="8" name="Rectangle 7"/>
          <p:cNvSpPr/>
          <p:nvPr/>
        </p:nvSpPr>
        <p:spPr>
          <a:xfrm>
            <a:off x="731520" y="14630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4892040" cy="1234440"/>
          </a:xfrm>
          <a:prstGeom prst="rect">
            <a:avLst/>
          </a:prstGeom>
          <a:noFill/>
        </p:spPr>
        <p:txBody>
          <a:bodyPr wrap="square" lIns="0" tIns="0">
            <a:spAutoFit/>
          </a:bodyPr>
          <a:lstStyle/>
          <a:p>
            <a:pPr>
              <a:defRPr b="1" sz="1300">
                <a:solidFill>
                  <a:srgbClr val="0F2042"/>
                </a:solidFill>
              </a:defRPr>
            </a:pPr>
            <a:r>
              <a:t>📁 Dynamic CSV Upload &amp; Normalization</a:t>
            </a:r>
          </a:p>
          <a:p>
            <a:pPr>
              <a:spcAft>
                <a:spcPts val="200"/>
              </a:spcAft>
              <a:defRPr sz="1050">
                <a:solidFill>
                  <a:srgbClr val="1E293B"/>
                </a:solidFill>
              </a:defRPr>
            </a:pPr>
            <a:r>
              <a:t>Accepts any stock CSV, automatically maps variations (e.g., 'Trade Date' -&gt; 'date', 'Adjusted Close' -&gt; 'adj_close'), and checks data integrity.</a:t>
            </a:r>
          </a:p>
          <a:p>
            <a:pPr>
              <a:defRPr sz="950" b="1">
                <a:solidFill>
                  <a:srgbClr val="0D9488"/>
                </a:solidFill>
              </a:defRPr>
            </a:pPr>
            <a:r>
              <a:t>✅ Implemented &amp; Verified</a:t>
            </a:r>
          </a:p>
        </p:txBody>
      </p:sp>
      <p:sp>
        <p:nvSpPr>
          <p:cNvPr id="10" name="Rectangle 9"/>
          <p:cNvSpPr/>
          <p:nvPr/>
        </p:nvSpPr>
        <p:spPr>
          <a:xfrm>
            <a:off x="6172200" y="14630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572768"/>
            <a:ext cx="4892040" cy="1234440"/>
          </a:xfrm>
          <a:prstGeom prst="rect">
            <a:avLst/>
          </a:prstGeom>
          <a:noFill/>
        </p:spPr>
        <p:txBody>
          <a:bodyPr wrap="square" lIns="0" tIns="0">
            <a:spAutoFit/>
          </a:bodyPr>
          <a:lstStyle/>
          <a:p>
            <a:pPr>
              <a:defRPr b="1" sz="1300">
                <a:solidFill>
                  <a:srgbClr val="0F2042"/>
                </a:solidFill>
              </a:defRPr>
            </a:pPr>
            <a:r>
              <a:t>🧹 Automated In-Memory Preprocessing</a:t>
            </a:r>
          </a:p>
          <a:p>
            <a:pPr>
              <a:spcAft>
                <a:spcPts val="200"/>
              </a:spcAft>
              <a:defRPr sz="1050">
                <a:solidFill>
                  <a:srgbClr val="1E293B"/>
                </a:solidFill>
              </a:defRPr>
            </a:pPr>
            <a:r>
              <a:t>Removes duplicates, missing values, non-positive prices, and invalid OHLC bounds while preserving original raw data in session state.</a:t>
            </a:r>
          </a:p>
          <a:p>
            <a:pPr>
              <a:defRPr sz="950" b="1">
                <a:solidFill>
                  <a:srgbClr val="0D9488"/>
                </a:solidFill>
              </a:defRPr>
            </a:pPr>
            <a:r>
              <a:t>✅ Implemented &amp; Verified</a:t>
            </a:r>
          </a:p>
        </p:txBody>
      </p:sp>
      <p:sp>
        <p:nvSpPr>
          <p:cNvPr id="12" name="Rectangle 11"/>
          <p:cNvSpPr/>
          <p:nvPr/>
        </p:nvSpPr>
        <p:spPr>
          <a:xfrm>
            <a:off x="731520" y="30632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72968"/>
            <a:ext cx="4892040" cy="1234440"/>
          </a:xfrm>
          <a:prstGeom prst="rect">
            <a:avLst/>
          </a:prstGeom>
          <a:noFill/>
        </p:spPr>
        <p:txBody>
          <a:bodyPr wrap="square" lIns="0" tIns="0">
            <a:spAutoFit/>
          </a:bodyPr>
          <a:lstStyle/>
          <a:p>
            <a:pPr>
              <a:defRPr b="1" sz="1300">
                <a:solidFill>
                  <a:srgbClr val="0F2042"/>
                </a:solidFill>
              </a:defRPr>
            </a:pPr>
            <a:r>
              <a:t>📊 7 Automated Exploratory Visualizations</a:t>
            </a:r>
          </a:p>
          <a:p>
            <a:pPr>
              <a:spcAft>
                <a:spcPts val="200"/>
              </a:spcAft>
              <a:defRPr sz="1050">
                <a:solidFill>
                  <a:srgbClr val="1E293B"/>
                </a:solidFill>
              </a:defRPr>
            </a:pPr>
            <a:r>
              <a:t>Generates price trends, volume moving averages, return distributions, correlation heatmaps, and boxplots with date range filtering and PNG downloads.</a:t>
            </a:r>
          </a:p>
          <a:p>
            <a:pPr>
              <a:defRPr sz="950" b="1">
                <a:solidFill>
                  <a:srgbClr val="0D9488"/>
                </a:solidFill>
              </a:defRPr>
            </a:pPr>
            <a:r>
              <a:t>✅ Implemented &amp; Verified</a:t>
            </a:r>
          </a:p>
        </p:txBody>
      </p:sp>
      <p:sp>
        <p:nvSpPr>
          <p:cNvPr id="14" name="Rectangle 13"/>
          <p:cNvSpPr/>
          <p:nvPr/>
        </p:nvSpPr>
        <p:spPr>
          <a:xfrm>
            <a:off x="6172200" y="30632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172968"/>
            <a:ext cx="4892040" cy="1234440"/>
          </a:xfrm>
          <a:prstGeom prst="rect">
            <a:avLst/>
          </a:prstGeom>
          <a:noFill/>
        </p:spPr>
        <p:txBody>
          <a:bodyPr wrap="square" lIns="0" tIns="0">
            <a:spAutoFit/>
          </a:bodyPr>
          <a:lstStyle/>
          <a:p>
            <a:pPr>
              <a:defRPr b="1" sz="1300">
                <a:solidFill>
                  <a:srgbClr val="0F2042"/>
                </a:solidFill>
              </a:defRPr>
            </a:pPr>
            <a:r>
              <a:t>⚙️ Leakage-Free Pipeline Training</a:t>
            </a:r>
          </a:p>
          <a:p>
            <a:pPr>
              <a:spcAft>
                <a:spcPts val="200"/>
              </a:spcAft>
              <a:defRPr sz="1050">
                <a:solidFill>
                  <a:srgbClr val="1E293B"/>
                </a:solidFill>
              </a:defRPr>
            </a:pPr>
            <a:r>
              <a:t>Combines StandardScaler with Ridge and Lasso inside scikit-learn Pipelines, tuned via 5-fold TimeSeriesSplit cross-validation on an 80% train split.</a:t>
            </a:r>
          </a:p>
          <a:p>
            <a:pPr>
              <a:defRPr sz="950" b="1">
                <a:solidFill>
                  <a:srgbClr val="0D9488"/>
                </a:solidFill>
              </a:defRPr>
            </a:pPr>
            <a:r>
              <a:t>✅ Implemented &amp; Verified</a:t>
            </a:r>
          </a:p>
        </p:txBody>
      </p:sp>
      <p:sp>
        <p:nvSpPr>
          <p:cNvPr id="16" name="Rectangle 15"/>
          <p:cNvSpPr/>
          <p:nvPr/>
        </p:nvSpPr>
        <p:spPr>
          <a:xfrm>
            <a:off x="731520" y="46634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773168"/>
            <a:ext cx="4892040" cy="1234440"/>
          </a:xfrm>
          <a:prstGeom prst="rect">
            <a:avLst/>
          </a:prstGeom>
          <a:noFill/>
        </p:spPr>
        <p:txBody>
          <a:bodyPr wrap="square" lIns="0" tIns="0">
            <a:spAutoFit/>
          </a:bodyPr>
          <a:lstStyle/>
          <a:p>
            <a:pPr>
              <a:defRPr b="1" sz="1300">
                <a:solidFill>
                  <a:srgbClr val="0F2042"/>
                </a:solidFill>
              </a:defRPr>
            </a:pPr>
            <a:r>
              <a:t>📏 Fair Out-of-Sample Evaluation</a:t>
            </a:r>
          </a:p>
          <a:p>
            <a:pPr>
              <a:spcAft>
                <a:spcPts val="200"/>
              </a:spcAft>
              <a:defRPr sz="1050">
                <a:solidFill>
                  <a:srgbClr val="1E293B"/>
                </a:solidFill>
              </a:defRPr>
            </a:pPr>
            <a:r>
              <a:t>Evaluates both models on the held-out 20% test partition using MAE, MSE, RMSE, and R² with side-by-side bar charts and actual vs predicted plots.</a:t>
            </a:r>
          </a:p>
          <a:p>
            <a:pPr>
              <a:defRPr sz="950" b="1">
                <a:solidFill>
                  <a:srgbClr val="0D9488"/>
                </a:solidFill>
              </a:defRPr>
            </a:pPr>
            <a:r>
              <a:t>✅ Implemented &amp; Verified</a:t>
            </a:r>
          </a:p>
        </p:txBody>
      </p:sp>
      <p:sp>
        <p:nvSpPr>
          <p:cNvPr id="18" name="Rectangle 17"/>
          <p:cNvSpPr/>
          <p:nvPr/>
        </p:nvSpPr>
        <p:spPr>
          <a:xfrm>
            <a:off x="6172200" y="46634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773168"/>
            <a:ext cx="4892040" cy="1234440"/>
          </a:xfrm>
          <a:prstGeom prst="rect">
            <a:avLst/>
          </a:prstGeom>
          <a:noFill/>
        </p:spPr>
        <p:txBody>
          <a:bodyPr wrap="square" lIns="0" tIns="0">
            <a:spAutoFit/>
          </a:bodyPr>
          <a:lstStyle/>
          <a:p>
            <a:pPr>
              <a:defRPr b="1" sz="1300">
                <a:solidFill>
                  <a:srgbClr val="0F2042"/>
                </a:solidFill>
              </a:defRPr>
            </a:pPr>
            <a:r>
              <a:t>🔮 Dual-Mode Prediction &amp; Reports</a:t>
            </a:r>
          </a:p>
          <a:p>
            <a:pPr>
              <a:spcAft>
                <a:spcPts val="200"/>
              </a:spcAft>
              <a:defRPr sz="1050">
                <a:solidFill>
                  <a:srgbClr val="1E293B"/>
                </a:solidFill>
              </a:defRPr>
            </a:pPr>
            <a:r>
              <a:t>Mode A predicts next trading day from latest historical data; Mode B accepts custom inputs with strict validation. Exports CSVs and Markdown reports.</a:t>
            </a:r>
          </a:p>
          <a:p>
            <a:pPr>
              <a:defRPr sz="950" b="1">
                <a:solidFill>
                  <a:srgbClr val="0D9488"/>
                </a:solidFill>
              </a:defRPr>
            </a:pPr>
            <a:r>
              <a:t>✅ Implemented &amp; Verified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TECHNICAL STRUCTURE</a:t>
            </a:r>
          </a:p>
          <a:p>
            <a:pPr>
              <a:defRPr sz="2200" b="1">
                <a:solidFill>
                  <a:srgbClr val="0F2042"/>
                </a:solidFill>
                <a:latin typeface="Calibri"/>
              </a:defRPr>
            </a:pPr>
            <a:r>
              <a:t>System Architecture &amp; Block Diagram</a:t>
            </a:r>
          </a:p>
          <a:p>
            <a:pPr>
              <a:defRPr sz="1100">
                <a:solidFill>
                  <a:srgbClr val="64748B"/>
                </a:solidFill>
                <a:latin typeface="Calibri"/>
              </a:defRPr>
            </a:pPr>
            <a:r>
              <a:t>Visual block diagram showing end-to-end data flow from user upload to prediction and report export.</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8 / 21</a:t>
            </a:r>
          </a:p>
        </p:txBody>
      </p:sp>
      <p:sp>
        <p:nvSpPr>
          <p:cNvPr id="8" name="Rounded Rectangle 7"/>
          <p:cNvSpPr/>
          <p:nvPr/>
        </p:nvSpPr>
        <p:spPr>
          <a:xfrm>
            <a:off x="731520" y="1554480"/>
            <a:ext cx="1828800" cy="82296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91639"/>
            <a:ext cx="1828800" cy="548640"/>
          </a:xfrm>
          <a:prstGeom prst="rect">
            <a:avLst/>
          </a:prstGeom>
          <a:noFill/>
        </p:spPr>
        <p:txBody>
          <a:bodyPr wrap="square">
            <a:spAutoFit/>
          </a:bodyPr>
          <a:lstStyle/>
          <a:p>
            <a:pPr algn="ctr">
              <a:defRPr b="1" sz="1100">
                <a:solidFill>
                  <a:srgbClr val="FFFFFF"/>
                </a:solidFill>
              </a:defRPr>
            </a:pPr>
            <a:r>
              <a:t>USER</a:t>
            </a:r>
          </a:p>
          <a:p>
            <a:pPr algn="ctr">
              <a:defRPr sz="850">
                <a:solidFill>
                  <a:srgbClr val="CBD5E1"/>
                </a:solidFill>
              </a:defRPr>
            </a:pPr>
            <a:r>
              <a:t>Client Browser</a:t>
            </a:r>
          </a:p>
        </p:txBody>
      </p:sp>
      <p:sp>
        <p:nvSpPr>
          <p:cNvPr id="10" name="Rounded Rectangle 9"/>
          <p:cNvSpPr/>
          <p:nvPr/>
        </p:nvSpPr>
        <p:spPr>
          <a:xfrm>
            <a:off x="2926080" y="1554480"/>
            <a:ext cx="2011680" cy="822960"/>
          </a:xfrm>
          <a:prstGeom prst="round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691639"/>
            <a:ext cx="2011680" cy="548640"/>
          </a:xfrm>
          <a:prstGeom prst="rect">
            <a:avLst/>
          </a:prstGeom>
          <a:noFill/>
        </p:spPr>
        <p:txBody>
          <a:bodyPr wrap="square">
            <a:spAutoFit/>
          </a:bodyPr>
          <a:lstStyle/>
          <a:p>
            <a:pPr algn="ctr">
              <a:defRPr b="1" sz="1100">
                <a:solidFill>
                  <a:srgbClr val="FFFFFF"/>
                </a:solidFill>
              </a:defRPr>
            </a:pPr>
            <a:r>
              <a:t>STREAMLIT UI</a:t>
            </a:r>
          </a:p>
          <a:p>
            <a:pPr algn="ctr">
              <a:defRPr sz="850">
                <a:solidFill>
                  <a:srgbClr val="CBD5E1"/>
                </a:solidFill>
              </a:defRPr>
            </a:pPr>
            <a:r>
              <a:t>app.py Dashboard</a:t>
            </a:r>
          </a:p>
        </p:txBody>
      </p:sp>
      <p:sp>
        <p:nvSpPr>
          <p:cNvPr id="12" name="Rounded Rectangle 11"/>
          <p:cNvSpPr/>
          <p:nvPr/>
        </p:nvSpPr>
        <p:spPr>
          <a:xfrm>
            <a:off x="5303520" y="1554480"/>
            <a:ext cx="2377440" cy="822960"/>
          </a:xfrm>
          <a:prstGeom prst="round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0" y="1691639"/>
            <a:ext cx="2377440" cy="548640"/>
          </a:xfrm>
          <a:prstGeom prst="rect">
            <a:avLst/>
          </a:prstGeom>
          <a:noFill/>
        </p:spPr>
        <p:txBody>
          <a:bodyPr wrap="square">
            <a:spAutoFit/>
          </a:bodyPr>
          <a:lstStyle/>
          <a:p>
            <a:pPr algn="ctr">
              <a:defRPr b="1" sz="1100">
                <a:solidFill>
                  <a:srgbClr val="FFFFFF"/>
                </a:solidFill>
              </a:defRPr>
            </a:pPr>
            <a:r>
              <a:t>CSV UPLOAD &amp; VALIDATION</a:t>
            </a:r>
          </a:p>
          <a:p>
            <a:pPr algn="ctr">
              <a:defRPr sz="850">
                <a:solidFill>
                  <a:srgbClr val="CBD5E1"/>
                </a:solidFill>
              </a:defRPr>
            </a:pPr>
            <a:r>
              <a:t>data_loader.py</a:t>
            </a:r>
          </a:p>
        </p:txBody>
      </p:sp>
      <p:sp>
        <p:nvSpPr>
          <p:cNvPr id="14" name="Rounded Rectangle 13"/>
          <p:cNvSpPr/>
          <p:nvPr/>
        </p:nvSpPr>
        <p:spPr>
          <a:xfrm>
            <a:off x="8046720" y="1554480"/>
            <a:ext cx="2286000" cy="822960"/>
          </a:xfrm>
          <a:prstGeom prst="round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1691639"/>
            <a:ext cx="2286000" cy="548640"/>
          </a:xfrm>
          <a:prstGeom prst="rect">
            <a:avLst/>
          </a:prstGeom>
          <a:noFill/>
        </p:spPr>
        <p:txBody>
          <a:bodyPr wrap="square">
            <a:spAutoFit/>
          </a:bodyPr>
          <a:lstStyle/>
          <a:p>
            <a:pPr algn="ctr">
              <a:defRPr b="1" sz="1100">
                <a:solidFill>
                  <a:srgbClr val="FFFFFF"/>
                </a:solidFill>
              </a:defRPr>
            </a:pPr>
            <a:r>
              <a:t>DATA PREPROCESSING</a:t>
            </a:r>
          </a:p>
          <a:p>
            <a:pPr algn="ctr">
              <a:defRPr sz="850">
                <a:solidFill>
                  <a:srgbClr val="CBD5E1"/>
                </a:solidFill>
              </a:defRPr>
            </a:pPr>
            <a:r>
              <a:t>preprocessing.py</a:t>
            </a:r>
          </a:p>
        </p:txBody>
      </p:sp>
      <p:sp>
        <p:nvSpPr>
          <p:cNvPr id="16" name="Rounded Rectangle 15"/>
          <p:cNvSpPr/>
          <p:nvPr/>
        </p:nvSpPr>
        <p:spPr>
          <a:xfrm>
            <a:off x="731520" y="2834640"/>
            <a:ext cx="2468880" cy="82296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971800"/>
            <a:ext cx="2468880" cy="548640"/>
          </a:xfrm>
          <a:prstGeom prst="rect">
            <a:avLst/>
          </a:prstGeom>
          <a:noFill/>
        </p:spPr>
        <p:txBody>
          <a:bodyPr wrap="square">
            <a:spAutoFit/>
          </a:bodyPr>
          <a:lstStyle/>
          <a:p>
            <a:pPr algn="ctr">
              <a:defRPr b="1" sz="1100">
                <a:solidFill>
                  <a:srgbClr val="FFFFFF"/>
                </a:solidFill>
              </a:defRPr>
            </a:pPr>
            <a:r>
              <a:t>EXPLORATORY DATA ANALYSIS</a:t>
            </a:r>
          </a:p>
          <a:p>
            <a:pPr algn="ctr">
              <a:defRPr sz="850">
                <a:solidFill>
                  <a:srgbClr val="CBD5E1"/>
                </a:solidFill>
              </a:defRPr>
            </a:pPr>
            <a:r>
              <a:t>eda.py (7 Charts)</a:t>
            </a:r>
          </a:p>
        </p:txBody>
      </p:sp>
      <p:sp>
        <p:nvSpPr>
          <p:cNvPr id="18" name="Rounded Rectangle 17"/>
          <p:cNvSpPr/>
          <p:nvPr/>
        </p:nvSpPr>
        <p:spPr>
          <a:xfrm>
            <a:off x="3657600" y="2834640"/>
            <a:ext cx="2651760" cy="822960"/>
          </a:xfrm>
          <a:prstGeom prst="round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2971800"/>
            <a:ext cx="2651760" cy="548640"/>
          </a:xfrm>
          <a:prstGeom prst="rect">
            <a:avLst/>
          </a:prstGeom>
          <a:noFill/>
        </p:spPr>
        <p:txBody>
          <a:bodyPr wrap="square">
            <a:spAutoFit/>
          </a:bodyPr>
          <a:lstStyle/>
          <a:p>
            <a:pPr algn="ctr">
              <a:defRPr b="1" sz="1100">
                <a:solidFill>
                  <a:srgbClr val="FFFFFF"/>
                </a:solidFill>
              </a:defRPr>
            </a:pPr>
            <a:r>
              <a:t>FEATURE ENGINEERING</a:t>
            </a:r>
          </a:p>
          <a:p>
            <a:pPr algn="ctr">
              <a:defRPr sz="850">
                <a:solidFill>
                  <a:srgbClr val="CBD5E1"/>
                </a:solidFill>
              </a:defRPr>
            </a:pPr>
            <a:r>
              <a:t>feature_engineering.py (10 Feats)</a:t>
            </a:r>
          </a:p>
        </p:txBody>
      </p:sp>
      <p:sp>
        <p:nvSpPr>
          <p:cNvPr id="20" name="Rounded Rectangle 19"/>
          <p:cNvSpPr/>
          <p:nvPr/>
        </p:nvSpPr>
        <p:spPr>
          <a:xfrm>
            <a:off x="6766560" y="2834640"/>
            <a:ext cx="2468880" cy="822960"/>
          </a:xfrm>
          <a:prstGeom prst="round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0" y="2971800"/>
            <a:ext cx="2468880" cy="548640"/>
          </a:xfrm>
          <a:prstGeom prst="rect">
            <a:avLst/>
          </a:prstGeom>
          <a:noFill/>
        </p:spPr>
        <p:txBody>
          <a:bodyPr wrap="square">
            <a:spAutoFit/>
          </a:bodyPr>
          <a:lstStyle/>
          <a:p>
            <a:pPr algn="ctr">
              <a:defRPr b="1" sz="1100">
                <a:solidFill>
                  <a:srgbClr val="FFFFFF"/>
                </a:solidFill>
              </a:defRPr>
            </a:pPr>
            <a:r>
              <a:t>CHRONOLOGICAL SPLIT</a:t>
            </a:r>
          </a:p>
          <a:p>
            <a:pPr algn="ctr">
              <a:defRPr sz="850">
                <a:solidFill>
                  <a:srgbClr val="CBD5E1"/>
                </a:solidFill>
              </a:defRPr>
            </a:pPr>
            <a:r>
              <a:t>Train: 80%  |  Test: 20%</a:t>
            </a:r>
          </a:p>
        </p:txBody>
      </p:sp>
      <p:sp>
        <p:nvSpPr>
          <p:cNvPr id="22" name="Rounded Rectangle 21"/>
          <p:cNvSpPr/>
          <p:nvPr/>
        </p:nvSpPr>
        <p:spPr>
          <a:xfrm>
            <a:off x="1371600" y="4023360"/>
            <a:ext cx="3200400" cy="82296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71600" y="4160520"/>
            <a:ext cx="3200400" cy="548640"/>
          </a:xfrm>
          <a:prstGeom prst="rect">
            <a:avLst/>
          </a:prstGeom>
          <a:noFill/>
        </p:spPr>
        <p:txBody>
          <a:bodyPr wrap="square">
            <a:spAutoFit/>
          </a:bodyPr>
          <a:lstStyle/>
          <a:p>
            <a:pPr algn="ctr">
              <a:defRPr b="1" sz="1100">
                <a:solidFill>
                  <a:srgbClr val="FFFFFF"/>
                </a:solidFill>
              </a:defRPr>
            </a:pPr>
            <a:r>
              <a:t>MODEL A: RIDGE REGRESSION</a:t>
            </a:r>
          </a:p>
          <a:p>
            <a:pPr algn="ctr">
              <a:defRPr sz="850">
                <a:solidFill>
                  <a:srgbClr val="CBD5E1"/>
                </a:solidFill>
              </a:defRPr>
            </a:pPr>
            <a:r>
              <a:t>StandardScaler + Ridge (L2)</a:t>
            </a:r>
          </a:p>
        </p:txBody>
      </p:sp>
      <p:sp>
        <p:nvSpPr>
          <p:cNvPr id="24" name="Rounded Rectangle 23"/>
          <p:cNvSpPr/>
          <p:nvPr/>
        </p:nvSpPr>
        <p:spPr>
          <a:xfrm>
            <a:off x="5029200" y="4023360"/>
            <a:ext cx="3200400" cy="82296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4160520"/>
            <a:ext cx="3200400" cy="548640"/>
          </a:xfrm>
          <a:prstGeom prst="rect">
            <a:avLst/>
          </a:prstGeom>
          <a:noFill/>
        </p:spPr>
        <p:txBody>
          <a:bodyPr wrap="square">
            <a:spAutoFit/>
          </a:bodyPr>
          <a:lstStyle/>
          <a:p>
            <a:pPr algn="ctr">
              <a:defRPr b="1" sz="1100">
                <a:solidFill>
                  <a:srgbClr val="FFFFFF"/>
                </a:solidFill>
              </a:defRPr>
            </a:pPr>
            <a:r>
              <a:t>MODEL B: LASSO REGRESSION</a:t>
            </a:r>
          </a:p>
          <a:p>
            <a:pPr algn="ctr">
              <a:defRPr sz="850">
                <a:solidFill>
                  <a:srgbClr val="CBD5E1"/>
                </a:solidFill>
              </a:defRPr>
            </a:pPr>
            <a:r>
              <a:t>StandardScaler + Lasso (L1)</a:t>
            </a:r>
          </a:p>
        </p:txBody>
      </p:sp>
      <p:sp>
        <p:nvSpPr>
          <p:cNvPr id="26" name="Rounded Rectangle 25"/>
          <p:cNvSpPr/>
          <p:nvPr/>
        </p:nvSpPr>
        <p:spPr>
          <a:xfrm>
            <a:off x="731520" y="5212080"/>
            <a:ext cx="2468880" cy="822960"/>
          </a:xfrm>
          <a:prstGeom prst="round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349240"/>
            <a:ext cx="2468880" cy="548640"/>
          </a:xfrm>
          <a:prstGeom prst="rect">
            <a:avLst/>
          </a:prstGeom>
          <a:noFill/>
        </p:spPr>
        <p:txBody>
          <a:bodyPr wrap="square">
            <a:spAutoFit/>
          </a:bodyPr>
          <a:lstStyle/>
          <a:p>
            <a:pPr algn="ctr">
              <a:defRPr b="1" sz="1050">
                <a:solidFill>
                  <a:srgbClr val="FFFFFF"/>
                </a:solidFill>
              </a:defRPr>
            </a:pPr>
            <a:r>
              <a:t>MODEL EVALUATION</a:t>
            </a:r>
          </a:p>
          <a:p>
            <a:pPr algn="ctr">
              <a:defRPr sz="850">
                <a:solidFill>
                  <a:srgbClr val="CBD5E1"/>
                </a:solidFill>
              </a:defRPr>
            </a:pPr>
            <a:r>
              <a:t>MAE, MSE, RMSE, R²</a:t>
            </a:r>
          </a:p>
        </p:txBody>
      </p:sp>
      <p:sp>
        <p:nvSpPr>
          <p:cNvPr id="28" name="Rounded Rectangle 27"/>
          <p:cNvSpPr/>
          <p:nvPr/>
        </p:nvSpPr>
        <p:spPr>
          <a:xfrm>
            <a:off x="3474720" y="5212080"/>
            <a:ext cx="2468880" cy="822960"/>
          </a:xfrm>
          <a:prstGeom prst="round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0" y="5349240"/>
            <a:ext cx="2468880" cy="548640"/>
          </a:xfrm>
          <a:prstGeom prst="rect">
            <a:avLst/>
          </a:prstGeom>
          <a:noFill/>
        </p:spPr>
        <p:txBody>
          <a:bodyPr wrap="square">
            <a:spAutoFit/>
          </a:bodyPr>
          <a:lstStyle/>
          <a:p>
            <a:pPr algn="ctr">
              <a:defRPr b="1" sz="1050">
                <a:solidFill>
                  <a:srgbClr val="FFFFFF"/>
                </a:solidFill>
              </a:defRPr>
            </a:pPr>
            <a:r>
              <a:t>MODEL COMPARISON</a:t>
            </a:r>
          </a:p>
          <a:p>
            <a:pPr algn="ctr">
              <a:defRPr sz="850">
                <a:solidFill>
                  <a:srgbClr val="CBD5E1"/>
                </a:solidFill>
              </a:defRPr>
            </a:pPr>
            <a:r>
              <a:t>Actual vs Predicted Plot</a:t>
            </a:r>
          </a:p>
        </p:txBody>
      </p:sp>
      <p:sp>
        <p:nvSpPr>
          <p:cNvPr id="30" name="Rounded Rectangle 29"/>
          <p:cNvSpPr/>
          <p:nvPr/>
        </p:nvSpPr>
        <p:spPr>
          <a:xfrm>
            <a:off x="6217920" y="5212080"/>
            <a:ext cx="2194560" cy="82296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5349240"/>
            <a:ext cx="2194560" cy="548640"/>
          </a:xfrm>
          <a:prstGeom prst="rect">
            <a:avLst/>
          </a:prstGeom>
          <a:noFill/>
        </p:spPr>
        <p:txBody>
          <a:bodyPr wrap="square">
            <a:spAutoFit/>
          </a:bodyPr>
          <a:lstStyle/>
          <a:p>
            <a:pPr algn="ctr">
              <a:defRPr b="1" sz="1050">
                <a:solidFill>
                  <a:srgbClr val="FFFFFF"/>
                </a:solidFill>
              </a:defRPr>
            </a:pPr>
            <a:r>
              <a:t>RETURN PREDICTION</a:t>
            </a:r>
          </a:p>
          <a:p>
            <a:pPr algn="ctr">
              <a:defRPr sz="850">
                <a:solidFill>
                  <a:srgbClr val="CBD5E1"/>
                </a:solidFill>
              </a:defRPr>
            </a:pPr>
            <a:r>
              <a:t>Mode A &amp; Mode B</a:t>
            </a:r>
          </a:p>
        </p:txBody>
      </p:sp>
      <p:sp>
        <p:nvSpPr>
          <p:cNvPr id="32" name="Rounded Rectangle 31"/>
          <p:cNvSpPr/>
          <p:nvPr/>
        </p:nvSpPr>
        <p:spPr>
          <a:xfrm>
            <a:off x="8686800" y="5212080"/>
            <a:ext cx="2468880" cy="82296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0" y="5349240"/>
            <a:ext cx="2468880" cy="548640"/>
          </a:xfrm>
          <a:prstGeom prst="rect">
            <a:avLst/>
          </a:prstGeom>
          <a:noFill/>
        </p:spPr>
        <p:txBody>
          <a:bodyPr wrap="square">
            <a:spAutoFit/>
          </a:bodyPr>
          <a:lstStyle/>
          <a:p>
            <a:pPr algn="ctr">
              <a:defRPr b="1" sz="1050">
                <a:solidFill>
                  <a:srgbClr val="FFFFFF"/>
                </a:solidFill>
              </a:defRPr>
            </a:pPr>
            <a:r>
              <a:t>REPORT DOWNLOADS</a:t>
            </a:r>
          </a:p>
          <a:p>
            <a:pPr algn="ctr">
              <a:defRPr sz="850">
                <a:solidFill>
                  <a:srgbClr val="CBD5E1"/>
                </a:solidFill>
              </a:defRPr>
            </a:pPr>
            <a:r>
              <a:t>report.py (CSV/PNG/MD)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SYSTEM WORKFLOW</a:t>
            </a:r>
          </a:p>
          <a:p>
            <a:pPr>
              <a:defRPr sz="2200" b="1">
                <a:solidFill>
                  <a:srgbClr val="0F2042"/>
                </a:solidFill>
                <a:latin typeface="Calibri"/>
              </a:defRPr>
            </a:pPr>
            <a:r>
              <a:t>Methodology &amp; End-to-End Workflow</a:t>
            </a:r>
          </a:p>
          <a:p>
            <a:pPr>
              <a:defRPr sz="1100">
                <a:solidFill>
                  <a:srgbClr val="64748B"/>
                </a:solidFill>
                <a:latin typeface="Calibri"/>
              </a:defRPr>
            </a:pPr>
            <a:r>
              <a:t>Step-by-step execution path ensuring chronological integrity and zero future data leakage.</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9 / 21</a:t>
            </a:r>
          </a:p>
        </p:txBody>
      </p:sp>
      <p:sp>
        <p:nvSpPr>
          <p:cNvPr id="8" name="Rectangle 7"/>
          <p:cNvSpPr/>
          <p:nvPr/>
        </p:nvSpPr>
        <p:spPr>
          <a:xfrm>
            <a:off x="731520" y="1463040"/>
            <a:ext cx="347472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72768"/>
            <a:ext cx="3200400" cy="1234440"/>
          </a:xfrm>
          <a:prstGeom prst="rect">
            <a:avLst/>
          </a:prstGeom>
          <a:noFill/>
        </p:spPr>
        <p:txBody>
          <a:bodyPr wrap="square" lIns="0" tIns="0">
            <a:spAutoFit/>
          </a:bodyPr>
          <a:lstStyle/>
          <a:p>
            <a:pPr>
              <a:spcAft>
                <a:spcPts val="300"/>
              </a:spcAft>
              <a:defRPr b="1" sz="1250">
                <a:solidFill>
                  <a:srgbClr val="1E40AF"/>
                </a:solidFill>
              </a:defRPr>
            </a:pPr>
            <a:r>
              <a:t>Step 1: Dataset Upload</a:t>
            </a:r>
          </a:p>
          <a:p>
            <a:pPr>
              <a:defRPr sz="1000">
                <a:solidFill>
                  <a:srgbClr val="1E293B"/>
                </a:solidFill>
              </a:defRPr>
            </a:pPr>
            <a:r>
              <a:t>User uploads a raw stock CSV or selects the bundled Reliance dataset via Streamlit uploader.</a:t>
            </a:r>
          </a:p>
        </p:txBody>
      </p:sp>
      <p:sp>
        <p:nvSpPr>
          <p:cNvPr id="10" name="Rectangle 9"/>
          <p:cNvSpPr/>
          <p:nvPr/>
        </p:nvSpPr>
        <p:spPr>
          <a:xfrm>
            <a:off x="4343400" y="1463040"/>
            <a:ext cx="347472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572768"/>
            <a:ext cx="3200400" cy="1234440"/>
          </a:xfrm>
          <a:prstGeom prst="rect">
            <a:avLst/>
          </a:prstGeom>
          <a:noFill/>
        </p:spPr>
        <p:txBody>
          <a:bodyPr wrap="square" lIns="0" tIns="0">
            <a:spAutoFit/>
          </a:bodyPr>
          <a:lstStyle/>
          <a:p>
            <a:pPr>
              <a:spcAft>
                <a:spcPts val="300"/>
              </a:spcAft>
              <a:defRPr b="1" sz="1250">
                <a:solidFill>
                  <a:srgbClr val="1E40AF"/>
                </a:solidFill>
              </a:defRPr>
            </a:pPr>
            <a:r>
              <a:t>Step 2: Input Validation</a:t>
            </a:r>
          </a:p>
          <a:p>
            <a:pPr>
              <a:defRPr sz="1000">
                <a:solidFill>
                  <a:srgbClr val="1E293B"/>
                </a:solidFill>
              </a:defRPr>
            </a:pPr>
            <a:r>
              <a:t>Validates required OHLCV columns, checks date format, and computes dataset hash for state tracking.</a:t>
            </a:r>
          </a:p>
        </p:txBody>
      </p:sp>
      <p:sp>
        <p:nvSpPr>
          <p:cNvPr id="12" name="Rectangle 11"/>
          <p:cNvSpPr/>
          <p:nvPr/>
        </p:nvSpPr>
        <p:spPr>
          <a:xfrm>
            <a:off x="7955280" y="1463040"/>
            <a:ext cx="347472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572768"/>
            <a:ext cx="3200400" cy="1234440"/>
          </a:xfrm>
          <a:prstGeom prst="rect">
            <a:avLst/>
          </a:prstGeom>
          <a:noFill/>
        </p:spPr>
        <p:txBody>
          <a:bodyPr wrap="square" lIns="0" tIns="0">
            <a:spAutoFit/>
          </a:bodyPr>
          <a:lstStyle/>
          <a:p>
            <a:pPr>
              <a:spcAft>
                <a:spcPts val="300"/>
              </a:spcAft>
              <a:defRPr b="1" sz="1250">
                <a:solidFill>
                  <a:srgbClr val="1E40AF"/>
                </a:solidFill>
              </a:defRPr>
            </a:pPr>
            <a:r>
              <a:t>Step 3: Preprocessing</a:t>
            </a:r>
          </a:p>
          <a:p>
            <a:pPr>
              <a:defRPr sz="1000">
                <a:solidFill>
                  <a:srgbClr val="1E293B"/>
                </a:solidFill>
              </a:defRPr>
            </a:pPr>
            <a:r>
              <a:t>Parses dates, removes duplicate dates, filters non-positive prices, and sorts chronologically.</a:t>
            </a:r>
          </a:p>
        </p:txBody>
      </p:sp>
      <p:sp>
        <p:nvSpPr>
          <p:cNvPr id="14" name="Rectangle 13"/>
          <p:cNvSpPr/>
          <p:nvPr/>
        </p:nvSpPr>
        <p:spPr>
          <a:xfrm>
            <a:off x="731520" y="3063240"/>
            <a:ext cx="347472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172968"/>
            <a:ext cx="3200400" cy="1234440"/>
          </a:xfrm>
          <a:prstGeom prst="rect">
            <a:avLst/>
          </a:prstGeom>
          <a:noFill/>
        </p:spPr>
        <p:txBody>
          <a:bodyPr wrap="square" lIns="0" tIns="0">
            <a:spAutoFit/>
          </a:bodyPr>
          <a:lstStyle/>
          <a:p>
            <a:pPr>
              <a:spcAft>
                <a:spcPts val="300"/>
              </a:spcAft>
              <a:defRPr b="1" sz="1250">
                <a:solidFill>
                  <a:srgbClr val="1E40AF"/>
                </a:solidFill>
              </a:defRPr>
            </a:pPr>
            <a:r>
              <a:t>Step 4: Exploratory Analysis</a:t>
            </a:r>
          </a:p>
          <a:p>
            <a:pPr>
              <a:defRPr sz="1000">
                <a:solidFill>
                  <a:srgbClr val="1E293B"/>
                </a:solidFill>
              </a:defRPr>
            </a:pPr>
            <a:r>
              <a:t>Generates 7 charts (price trend, volume MA, return distributions, heatmaps, boxplots) with date filters.</a:t>
            </a:r>
          </a:p>
        </p:txBody>
      </p:sp>
      <p:sp>
        <p:nvSpPr>
          <p:cNvPr id="16" name="Rectangle 15"/>
          <p:cNvSpPr/>
          <p:nvPr/>
        </p:nvSpPr>
        <p:spPr>
          <a:xfrm>
            <a:off x="4343400" y="3063240"/>
            <a:ext cx="347472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3172968"/>
            <a:ext cx="3200400" cy="1234440"/>
          </a:xfrm>
          <a:prstGeom prst="rect">
            <a:avLst/>
          </a:prstGeom>
          <a:noFill/>
        </p:spPr>
        <p:txBody>
          <a:bodyPr wrap="square" lIns="0" tIns="0">
            <a:spAutoFit/>
          </a:bodyPr>
          <a:lstStyle/>
          <a:p>
            <a:pPr>
              <a:spcAft>
                <a:spcPts val="300"/>
              </a:spcAft>
              <a:defRPr b="1" sz="1250">
                <a:solidFill>
                  <a:srgbClr val="1E40AF"/>
                </a:solidFill>
              </a:defRPr>
            </a:pPr>
            <a:r>
              <a:t>Step 5: Feature Engineering</a:t>
            </a:r>
          </a:p>
          <a:p>
            <a:pPr>
              <a:defRPr sz="1000">
                <a:solidFill>
                  <a:srgbClr val="1E293B"/>
                </a:solidFill>
              </a:defRPr>
            </a:pPr>
            <a:r>
              <a:t>Computes daily return, intraday return, daily range, lag return, and 5-day return. Target = next day return.</a:t>
            </a:r>
          </a:p>
        </p:txBody>
      </p:sp>
      <p:sp>
        <p:nvSpPr>
          <p:cNvPr id="18" name="Rectangle 17"/>
          <p:cNvSpPr/>
          <p:nvPr/>
        </p:nvSpPr>
        <p:spPr>
          <a:xfrm>
            <a:off x="7955280" y="3063240"/>
            <a:ext cx="347472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3172968"/>
            <a:ext cx="3200400" cy="1234440"/>
          </a:xfrm>
          <a:prstGeom prst="rect">
            <a:avLst/>
          </a:prstGeom>
          <a:noFill/>
        </p:spPr>
        <p:txBody>
          <a:bodyPr wrap="square" lIns="0" tIns="0">
            <a:spAutoFit/>
          </a:bodyPr>
          <a:lstStyle/>
          <a:p>
            <a:pPr>
              <a:spcAft>
                <a:spcPts val="300"/>
              </a:spcAft>
              <a:defRPr b="1" sz="1250">
                <a:solidFill>
                  <a:srgbClr val="1E40AF"/>
                </a:solidFill>
              </a:defRPr>
            </a:pPr>
            <a:r>
              <a:t>Step 6: Chronological Split</a:t>
            </a:r>
          </a:p>
          <a:p>
            <a:pPr>
              <a:defRPr sz="1000">
                <a:solidFill>
                  <a:srgbClr val="1E293B"/>
                </a:solidFill>
              </a:defRPr>
            </a:pPr>
            <a:r>
              <a:t>Splits the first 80% of rows for training and the final 20% for testing. Shuffling is strictly prohibited.</a:t>
            </a:r>
          </a:p>
        </p:txBody>
      </p:sp>
      <p:sp>
        <p:nvSpPr>
          <p:cNvPr id="20" name="Rectangle 19"/>
          <p:cNvSpPr/>
          <p:nvPr/>
        </p:nvSpPr>
        <p:spPr>
          <a:xfrm>
            <a:off x="731520" y="4663440"/>
            <a:ext cx="347472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773168"/>
            <a:ext cx="3200400" cy="1234440"/>
          </a:xfrm>
          <a:prstGeom prst="rect">
            <a:avLst/>
          </a:prstGeom>
          <a:noFill/>
        </p:spPr>
        <p:txBody>
          <a:bodyPr wrap="square" lIns="0" tIns="0">
            <a:spAutoFit/>
          </a:bodyPr>
          <a:lstStyle/>
          <a:p>
            <a:pPr>
              <a:spcAft>
                <a:spcPts val="300"/>
              </a:spcAft>
              <a:defRPr b="1" sz="1250">
                <a:solidFill>
                  <a:srgbClr val="1E40AF"/>
                </a:solidFill>
              </a:defRPr>
            </a:pPr>
            <a:r>
              <a:t>Step 7: Regularized Training</a:t>
            </a:r>
          </a:p>
          <a:p>
            <a:pPr>
              <a:defRPr sz="1000">
                <a:solidFill>
                  <a:srgbClr val="1E293B"/>
                </a:solidFill>
              </a:defRPr>
            </a:pPr>
            <a:r>
              <a:t>Fits StandardScaler only on training data; tunes alpha via 5-fold TimeSeriesSplit cross-validation.</a:t>
            </a:r>
          </a:p>
        </p:txBody>
      </p:sp>
      <p:sp>
        <p:nvSpPr>
          <p:cNvPr id="22" name="Rectangle 21"/>
          <p:cNvSpPr/>
          <p:nvPr/>
        </p:nvSpPr>
        <p:spPr>
          <a:xfrm>
            <a:off x="4343400" y="4663440"/>
            <a:ext cx="347472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60" y="4773168"/>
            <a:ext cx="3200400" cy="1234440"/>
          </a:xfrm>
          <a:prstGeom prst="rect">
            <a:avLst/>
          </a:prstGeom>
          <a:noFill/>
        </p:spPr>
        <p:txBody>
          <a:bodyPr wrap="square" lIns="0" tIns="0">
            <a:spAutoFit/>
          </a:bodyPr>
          <a:lstStyle/>
          <a:p>
            <a:pPr>
              <a:spcAft>
                <a:spcPts val="300"/>
              </a:spcAft>
              <a:defRPr b="1" sz="1250">
                <a:solidFill>
                  <a:srgbClr val="1E40AF"/>
                </a:solidFill>
              </a:defRPr>
            </a:pPr>
            <a:r>
              <a:t>Step 8: Model Evaluation</a:t>
            </a:r>
          </a:p>
          <a:p>
            <a:pPr>
              <a:defRPr sz="1000">
                <a:solidFill>
                  <a:srgbClr val="1E293B"/>
                </a:solidFill>
              </a:defRPr>
            </a:pPr>
            <a:r>
              <a:t>Calculates MAE, MSE, RMSE, and R² on the unseen 20% test partition without retraining.</a:t>
            </a:r>
          </a:p>
        </p:txBody>
      </p:sp>
      <p:sp>
        <p:nvSpPr>
          <p:cNvPr id="24" name="Rectangle 23"/>
          <p:cNvSpPr/>
          <p:nvPr/>
        </p:nvSpPr>
        <p:spPr>
          <a:xfrm>
            <a:off x="7955280" y="4663440"/>
            <a:ext cx="347472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4773168"/>
            <a:ext cx="3200400" cy="1234440"/>
          </a:xfrm>
          <a:prstGeom prst="rect">
            <a:avLst/>
          </a:prstGeom>
          <a:noFill/>
        </p:spPr>
        <p:txBody>
          <a:bodyPr wrap="square" lIns="0" tIns="0">
            <a:spAutoFit/>
          </a:bodyPr>
          <a:lstStyle/>
          <a:p>
            <a:pPr>
              <a:spcAft>
                <a:spcPts val="300"/>
              </a:spcAft>
              <a:defRPr b="1" sz="1250">
                <a:solidFill>
                  <a:srgbClr val="1E40AF"/>
                </a:solidFill>
              </a:defRPr>
            </a:pPr>
            <a:r>
              <a:t>Step 9: Prediction &amp; Reports</a:t>
            </a:r>
          </a:p>
          <a:p>
            <a:pPr>
              <a:defRPr sz="1000">
                <a:solidFill>
                  <a:srgbClr val="1E293B"/>
                </a:solidFill>
              </a:defRPr>
            </a:pPr>
            <a:r>
              <a:t>Mode A (latest historical) &amp; Mode B (manual input). Generates downloadable CSVs, PNGs, and Markdown reports.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TOOLS &amp; FRAMEWORKS</a:t>
            </a:r>
          </a:p>
          <a:p>
            <a:pPr>
              <a:defRPr sz="2200" b="1">
                <a:solidFill>
                  <a:srgbClr val="0F2042"/>
                </a:solidFill>
                <a:latin typeface="Calibri"/>
              </a:defRPr>
            </a:pPr>
            <a:r>
              <a:t>Technology Stack &amp; Software Environment</a:t>
            </a:r>
          </a:p>
          <a:p>
            <a:pPr>
              <a:defRPr sz="1100">
                <a:solidFill>
                  <a:srgbClr val="64748B"/>
                </a:solidFill>
                <a:latin typeface="Calibri"/>
              </a:defRPr>
            </a:pPr>
            <a:r>
              <a:t>Core open-source libraries and frameworks used to implement the application.</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10 / 21</a:t>
            </a:r>
          </a:p>
        </p:txBody>
      </p:sp>
      <p:sp>
        <p:nvSpPr>
          <p:cNvPr id="8" name="Rectangle 7"/>
          <p:cNvSpPr/>
          <p:nvPr/>
        </p:nvSpPr>
        <p:spPr>
          <a:xfrm>
            <a:off x="731520" y="1463040"/>
            <a:ext cx="25603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00200"/>
            <a:ext cx="2286000" cy="1965960"/>
          </a:xfrm>
          <a:prstGeom prst="rect">
            <a:avLst/>
          </a:prstGeom>
          <a:noFill/>
        </p:spPr>
        <p:txBody>
          <a:bodyPr wrap="square" lIns="0" tIns="0">
            <a:spAutoFit/>
          </a:bodyPr>
          <a:lstStyle/>
          <a:p>
            <a:pPr>
              <a:spcAft>
                <a:spcPts val="200"/>
              </a:spcAft>
              <a:defRPr b="1" sz="1400">
                <a:solidFill>
                  <a:srgbClr val="0F2042"/>
                </a:solidFill>
              </a:defRPr>
            </a:pPr>
            <a:r>
              <a:t>Python 3.9+</a:t>
            </a:r>
          </a:p>
          <a:p>
            <a:pPr>
              <a:spcAft>
                <a:spcPts val="600"/>
              </a:spcAft>
              <a:defRPr b="1" sz="900">
                <a:solidFill>
                  <a:srgbClr val="0D9488"/>
                </a:solidFill>
              </a:defRPr>
            </a:pPr>
            <a:r>
              <a:t>CORE LANGUAGE</a:t>
            </a:r>
          </a:p>
          <a:p>
            <a:pPr>
              <a:defRPr sz="1000">
                <a:solidFill>
                  <a:srgbClr val="1E293B"/>
                </a:solidFill>
              </a:defRPr>
            </a:pPr>
            <a:r>
              <a:t>Primary programming language chosen for its rich ecosystem in scientific computing and machine learning.</a:t>
            </a:r>
          </a:p>
        </p:txBody>
      </p:sp>
      <p:sp>
        <p:nvSpPr>
          <p:cNvPr id="10" name="Rectangle 9"/>
          <p:cNvSpPr/>
          <p:nvPr/>
        </p:nvSpPr>
        <p:spPr>
          <a:xfrm>
            <a:off x="3429000" y="1463040"/>
            <a:ext cx="25603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600200"/>
            <a:ext cx="2286000" cy="1965960"/>
          </a:xfrm>
          <a:prstGeom prst="rect">
            <a:avLst/>
          </a:prstGeom>
          <a:noFill/>
        </p:spPr>
        <p:txBody>
          <a:bodyPr wrap="square" lIns="0" tIns="0">
            <a:spAutoFit/>
          </a:bodyPr>
          <a:lstStyle/>
          <a:p>
            <a:pPr>
              <a:spcAft>
                <a:spcPts val="200"/>
              </a:spcAft>
              <a:defRPr b="1" sz="1400">
                <a:solidFill>
                  <a:srgbClr val="0F2042"/>
                </a:solidFill>
              </a:defRPr>
            </a:pPr>
            <a:r>
              <a:t>Streamlit 1.50</a:t>
            </a:r>
          </a:p>
          <a:p>
            <a:pPr>
              <a:spcAft>
                <a:spcPts val="600"/>
              </a:spcAft>
              <a:defRPr b="1" sz="900">
                <a:solidFill>
                  <a:srgbClr val="0D9488"/>
                </a:solidFill>
              </a:defRPr>
            </a:pPr>
            <a:r>
              <a:t>WEB INTERFACE</a:t>
            </a:r>
          </a:p>
          <a:p>
            <a:pPr>
              <a:defRPr sz="1000">
                <a:solidFill>
                  <a:srgbClr val="1E293B"/>
                </a:solidFill>
              </a:defRPr>
            </a:pPr>
            <a:r>
              <a:t>Delivers an interactive, reactive, multi-page financial dashboard with progress tracking and file uploaders.</a:t>
            </a:r>
          </a:p>
        </p:txBody>
      </p:sp>
      <p:sp>
        <p:nvSpPr>
          <p:cNvPr id="12" name="Rectangle 11"/>
          <p:cNvSpPr/>
          <p:nvPr/>
        </p:nvSpPr>
        <p:spPr>
          <a:xfrm>
            <a:off x="6126480" y="1463040"/>
            <a:ext cx="25603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600200"/>
            <a:ext cx="2286000" cy="1965960"/>
          </a:xfrm>
          <a:prstGeom prst="rect">
            <a:avLst/>
          </a:prstGeom>
          <a:noFill/>
        </p:spPr>
        <p:txBody>
          <a:bodyPr wrap="square" lIns="0" tIns="0">
            <a:spAutoFit/>
          </a:bodyPr>
          <a:lstStyle/>
          <a:p>
            <a:pPr>
              <a:spcAft>
                <a:spcPts val="200"/>
              </a:spcAft>
              <a:defRPr b="1" sz="1400">
                <a:solidFill>
                  <a:srgbClr val="0F2042"/>
                </a:solidFill>
              </a:defRPr>
            </a:pPr>
            <a:r>
              <a:t>Pandas 2.3</a:t>
            </a:r>
          </a:p>
          <a:p>
            <a:pPr>
              <a:spcAft>
                <a:spcPts val="600"/>
              </a:spcAft>
              <a:defRPr b="1" sz="900">
                <a:solidFill>
                  <a:srgbClr val="0D9488"/>
                </a:solidFill>
              </a:defRPr>
            </a:pPr>
            <a:r>
              <a:t>DATA PROCESSING</a:t>
            </a:r>
          </a:p>
          <a:p>
            <a:pPr>
              <a:defRPr sz="1000">
                <a:solidFill>
                  <a:srgbClr val="1E293B"/>
                </a:solidFill>
              </a:defRPr>
            </a:pPr>
            <a:r>
              <a:t>Handles CSV ingestion, timezone normalization, chronological sorting, rolling windows, and feature computation.</a:t>
            </a:r>
          </a:p>
        </p:txBody>
      </p:sp>
      <p:sp>
        <p:nvSpPr>
          <p:cNvPr id="14" name="Rectangle 13"/>
          <p:cNvSpPr/>
          <p:nvPr/>
        </p:nvSpPr>
        <p:spPr>
          <a:xfrm>
            <a:off x="8823960" y="1463040"/>
            <a:ext cx="25603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1600200"/>
            <a:ext cx="2286000" cy="1965960"/>
          </a:xfrm>
          <a:prstGeom prst="rect">
            <a:avLst/>
          </a:prstGeom>
          <a:noFill/>
        </p:spPr>
        <p:txBody>
          <a:bodyPr wrap="square" lIns="0" tIns="0">
            <a:spAutoFit/>
          </a:bodyPr>
          <a:lstStyle/>
          <a:p>
            <a:pPr>
              <a:spcAft>
                <a:spcPts val="200"/>
              </a:spcAft>
              <a:defRPr b="1" sz="1400">
                <a:solidFill>
                  <a:srgbClr val="0F2042"/>
                </a:solidFill>
              </a:defRPr>
            </a:pPr>
            <a:r>
              <a:t>NumPy 2.0</a:t>
            </a:r>
          </a:p>
          <a:p>
            <a:pPr>
              <a:spcAft>
                <a:spcPts val="600"/>
              </a:spcAft>
              <a:defRPr b="1" sz="900">
                <a:solidFill>
                  <a:srgbClr val="0D9488"/>
                </a:solidFill>
              </a:defRPr>
            </a:pPr>
            <a:r>
              <a:t>NUMERICAL COMPUTING</a:t>
            </a:r>
          </a:p>
          <a:p>
            <a:pPr>
              <a:defRPr sz="1000">
                <a:solidFill>
                  <a:srgbClr val="1E293B"/>
                </a:solidFill>
              </a:defRPr>
            </a:pPr>
            <a:r>
              <a:t>High-performance vectorized array math for return calculations and directional accuracy checks.</a:t>
            </a:r>
          </a:p>
        </p:txBody>
      </p:sp>
      <p:sp>
        <p:nvSpPr>
          <p:cNvPr id="16" name="Rectangle 15"/>
          <p:cNvSpPr/>
          <p:nvPr/>
        </p:nvSpPr>
        <p:spPr>
          <a:xfrm>
            <a:off x="731520" y="3886200"/>
            <a:ext cx="25603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023360"/>
            <a:ext cx="2286000" cy="1965960"/>
          </a:xfrm>
          <a:prstGeom prst="rect">
            <a:avLst/>
          </a:prstGeom>
          <a:noFill/>
        </p:spPr>
        <p:txBody>
          <a:bodyPr wrap="square" lIns="0" tIns="0">
            <a:spAutoFit/>
          </a:bodyPr>
          <a:lstStyle/>
          <a:p>
            <a:pPr>
              <a:spcAft>
                <a:spcPts val="200"/>
              </a:spcAft>
              <a:defRPr b="1" sz="1400">
                <a:solidFill>
                  <a:srgbClr val="0F2042"/>
                </a:solidFill>
              </a:defRPr>
            </a:pPr>
            <a:r>
              <a:t>Scikit-Learn 1.6</a:t>
            </a:r>
          </a:p>
          <a:p>
            <a:pPr>
              <a:spcAft>
                <a:spcPts val="600"/>
              </a:spcAft>
              <a:defRPr b="1" sz="900">
                <a:solidFill>
                  <a:srgbClr val="0D9488"/>
                </a:solidFill>
              </a:defRPr>
            </a:pPr>
            <a:r>
              <a:t>MACHINE LEARNING</a:t>
            </a:r>
          </a:p>
          <a:p>
            <a:pPr>
              <a:defRPr sz="1000">
                <a:solidFill>
                  <a:srgbClr val="1E293B"/>
                </a:solidFill>
              </a:defRPr>
            </a:pPr>
            <a:r>
              <a:t>Provides StandardScaler, Ridge, Lasso, Pipeline, TimeSeriesSplit, GridSearchCV, and regression metrics.</a:t>
            </a:r>
          </a:p>
        </p:txBody>
      </p:sp>
      <p:sp>
        <p:nvSpPr>
          <p:cNvPr id="18" name="Rectangle 17"/>
          <p:cNvSpPr/>
          <p:nvPr/>
        </p:nvSpPr>
        <p:spPr>
          <a:xfrm>
            <a:off x="3429000" y="3886200"/>
            <a:ext cx="25603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66160" y="4023360"/>
            <a:ext cx="2286000" cy="1965960"/>
          </a:xfrm>
          <a:prstGeom prst="rect">
            <a:avLst/>
          </a:prstGeom>
          <a:noFill/>
        </p:spPr>
        <p:txBody>
          <a:bodyPr wrap="square" lIns="0" tIns="0">
            <a:spAutoFit/>
          </a:bodyPr>
          <a:lstStyle/>
          <a:p>
            <a:pPr>
              <a:spcAft>
                <a:spcPts val="200"/>
              </a:spcAft>
              <a:defRPr b="1" sz="1400">
                <a:solidFill>
                  <a:srgbClr val="0F2042"/>
                </a:solidFill>
              </a:defRPr>
            </a:pPr>
            <a:r>
              <a:t>Plotly &amp; Seaborn</a:t>
            </a:r>
          </a:p>
          <a:p>
            <a:pPr>
              <a:spcAft>
                <a:spcPts val="600"/>
              </a:spcAft>
              <a:defRPr b="1" sz="900">
                <a:solidFill>
                  <a:srgbClr val="0D9488"/>
                </a:solidFill>
              </a:defRPr>
            </a:pPr>
            <a:r>
              <a:t>VISUALIZATION</a:t>
            </a:r>
          </a:p>
          <a:p>
            <a:pPr>
              <a:defRPr sz="1000">
                <a:solidFill>
                  <a:srgbClr val="1E293B"/>
                </a:solidFill>
              </a:defRPr>
            </a:pPr>
            <a:r>
              <a:t>Plotly generates interactive zoomable web charts; Matplotlib &amp; Seaborn generate static high-res PNGs.</a:t>
            </a:r>
          </a:p>
        </p:txBody>
      </p:sp>
      <p:sp>
        <p:nvSpPr>
          <p:cNvPr id="20" name="Rectangle 19"/>
          <p:cNvSpPr/>
          <p:nvPr/>
        </p:nvSpPr>
        <p:spPr>
          <a:xfrm>
            <a:off x="6126480" y="3886200"/>
            <a:ext cx="25603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4023360"/>
            <a:ext cx="2286000" cy="1965960"/>
          </a:xfrm>
          <a:prstGeom prst="rect">
            <a:avLst/>
          </a:prstGeom>
          <a:noFill/>
        </p:spPr>
        <p:txBody>
          <a:bodyPr wrap="square" lIns="0" tIns="0">
            <a:spAutoFit/>
          </a:bodyPr>
          <a:lstStyle/>
          <a:p>
            <a:pPr>
              <a:spcAft>
                <a:spcPts val="200"/>
              </a:spcAft>
              <a:defRPr b="1" sz="1400">
                <a:solidFill>
                  <a:srgbClr val="0F2042"/>
                </a:solidFill>
              </a:defRPr>
            </a:pPr>
            <a:r>
              <a:t>Joblib 1.5</a:t>
            </a:r>
          </a:p>
          <a:p>
            <a:pPr>
              <a:spcAft>
                <a:spcPts val="600"/>
              </a:spcAft>
              <a:defRPr b="1" sz="900">
                <a:solidFill>
                  <a:srgbClr val="0D9488"/>
                </a:solidFill>
              </a:defRPr>
            </a:pPr>
            <a:r>
              <a:t>MODEL PERSISTENCE</a:t>
            </a:r>
          </a:p>
          <a:p>
            <a:pPr>
              <a:defRPr sz="1000">
                <a:solidFill>
                  <a:srgbClr val="1E293B"/>
                </a:solidFill>
              </a:defRPr>
            </a:pPr>
            <a:r>
              <a:t>Serializes and loads trained scikit-learn Pipeline artifacts to disk without retraining on every interaction.</a:t>
            </a:r>
          </a:p>
        </p:txBody>
      </p:sp>
      <p:sp>
        <p:nvSpPr>
          <p:cNvPr id="22" name="Rectangle 21"/>
          <p:cNvSpPr/>
          <p:nvPr/>
        </p:nvSpPr>
        <p:spPr>
          <a:xfrm>
            <a:off x="8823960" y="3886200"/>
            <a:ext cx="25603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0" y="4023360"/>
            <a:ext cx="2286000" cy="1965960"/>
          </a:xfrm>
          <a:prstGeom prst="rect">
            <a:avLst/>
          </a:prstGeom>
          <a:noFill/>
        </p:spPr>
        <p:txBody>
          <a:bodyPr wrap="square" lIns="0" tIns="0">
            <a:spAutoFit/>
          </a:bodyPr>
          <a:lstStyle/>
          <a:p>
            <a:pPr>
              <a:spcAft>
                <a:spcPts val="200"/>
              </a:spcAft>
              <a:defRPr b="1" sz="1400">
                <a:solidFill>
                  <a:srgbClr val="0F2042"/>
                </a:solidFill>
              </a:defRPr>
            </a:pPr>
            <a:r>
              <a:t>Pytest 8.4</a:t>
            </a:r>
          </a:p>
          <a:p>
            <a:pPr>
              <a:spcAft>
                <a:spcPts val="600"/>
              </a:spcAft>
              <a:defRPr b="1" sz="900">
                <a:solidFill>
                  <a:srgbClr val="0D9488"/>
                </a:solidFill>
              </a:defRPr>
            </a:pPr>
            <a:r>
              <a:t>AUTOMATED TESTING</a:t>
            </a:r>
          </a:p>
          <a:p>
            <a:pPr>
              <a:defRPr sz="1000">
                <a:solidFill>
                  <a:srgbClr val="1E293B"/>
                </a:solidFill>
              </a:defRPr>
            </a:pPr>
            <a:r>
              <a:t>Test suite containing 31 automated unit and integration tests verifying preprocessing, leakage, and models.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COMPONENT DESIGN</a:t>
            </a:r>
          </a:p>
          <a:p>
            <a:pPr>
              <a:defRPr sz="2200" b="1">
                <a:solidFill>
                  <a:srgbClr val="0F2042"/>
                </a:solidFill>
                <a:latin typeface="Calibri"/>
              </a:defRPr>
            </a:pPr>
            <a:r>
              <a:t>System Modules &amp; Architecture Breakdown</a:t>
            </a:r>
          </a:p>
          <a:p>
            <a:pPr>
              <a:defRPr sz="1100">
                <a:solidFill>
                  <a:srgbClr val="64748B"/>
                </a:solidFill>
                <a:latin typeface="Calibri"/>
              </a:defRPr>
            </a:pPr>
            <a:r>
              <a:t>Eight modular Python components with clear separation of concerns, inputs, and outputs.</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11 / 21</a:t>
            </a:r>
          </a:p>
        </p:txBody>
      </p:sp>
      <p:graphicFrame>
        <p:nvGraphicFramePr>
          <p:cNvPr id="8" name="Table 7"/>
          <p:cNvGraphicFramePr>
            <a:graphicFrameLocks noGrp="1"/>
          </p:cNvGraphicFramePr>
          <p:nvPr/>
        </p:nvGraphicFramePr>
        <p:xfrm>
          <a:off x="731520" y="1463040"/>
          <a:ext cx="10728655" cy="4709160"/>
        </p:xfrm>
        <a:graphic>
          <a:graphicData uri="http://schemas.openxmlformats.org/drawingml/2006/table">
            <a:tbl>
              <a:tblPr firstRow="1" bandRow="1">
                <a:tableStyleId>{5C22544A-7EE6-4342-B048-85BDC9FD1C3A}</a:tableStyleId>
              </a:tblPr>
              <a:tblGrid>
                <a:gridCol w="2194560"/>
                <a:gridCol w="1828800"/>
                <a:gridCol w="3962095"/>
                <a:gridCol w="2743200"/>
              </a:tblGrid>
              <a:tr h="523240">
                <a:tc>
                  <a:txBody>
                    <a:bodyPr wrap="square"/>
                    <a:lstStyle/>
                    <a:p>
                      <a:pPr algn="ctr">
                        <a:defRPr sz="1100" b="1">
                          <a:solidFill>
                            <a:srgbClr val="FFFFFF"/>
                          </a:solidFill>
                          <a:latin typeface="Calibri"/>
                        </a:defRPr>
                      </a:pPr>
                      <a:r>
                        <a:t>Module Name</a:t>
                      </a:r>
                    </a:p>
                  </a:txBody>
                  <a:tcPr anchor="ctr">
                    <a:solidFill>
                      <a:srgbClr val="0F2042"/>
                    </a:solidFill>
                  </a:tcPr>
                </a:tc>
                <a:tc>
                  <a:txBody>
                    <a:bodyPr wrap="square"/>
                    <a:lstStyle/>
                    <a:p>
                      <a:pPr algn="ctr">
                        <a:defRPr sz="1100" b="1">
                          <a:solidFill>
                            <a:srgbClr val="FFFFFF"/>
                          </a:solidFill>
                          <a:latin typeface="Calibri"/>
                        </a:defRPr>
                      </a:pPr>
                      <a:r>
                        <a:t>Source File</a:t>
                      </a:r>
                    </a:p>
                  </a:txBody>
                  <a:tcPr anchor="ctr">
                    <a:solidFill>
                      <a:srgbClr val="0F2042"/>
                    </a:solidFill>
                  </a:tcPr>
                </a:tc>
                <a:tc>
                  <a:txBody>
                    <a:bodyPr wrap="square"/>
                    <a:lstStyle/>
                    <a:p>
                      <a:pPr algn="ctr">
                        <a:defRPr sz="1100" b="1">
                          <a:solidFill>
                            <a:srgbClr val="FFFFFF"/>
                          </a:solidFill>
                          <a:latin typeface="Calibri"/>
                        </a:defRPr>
                      </a:pPr>
                      <a:r>
                        <a:t>Primary Purpose</a:t>
                      </a:r>
                    </a:p>
                  </a:txBody>
                  <a:tcPr anchor="ctr">
                    <a:solidFill>
                      <a:srgbClr val="0F2042"/>
                    </a:solidFill>
                  </a:tcPr>
                </a:tc>
                <a:tc>
                  <a:txBody>
                    <a:bodyPr wrap="square"/>
                    <a:lstStyle/>
                    <a:p>
                      <a:pPr algn="ctr">
                        <a:defRPr sz="1100" b="1">
                          <a:solidFill>
                            <a:srgbClr val="FFFFFF"/>
                          </a:solidFill>
                          <a:latin typeface="Calibri"/>
                        </a:defRPr>
                      </a:pPr>
                      <a:r>
                        <a:t>Inputs / Outputs</a:t>
                      </a:r>
                    </a:p>
                  </a:txBody>
                  <a:tcPr anchor="ctr">
                    <a:solidFill>
                      <a:srgbClr val="0F2042"/>
                    </a:solidFill>
                  </a:tcPr>
                </a:tc>
              </a:tr>
              <a:tr h="523240">
                <a:tc>
                  <a:txBody>
                    <a:bodyPr wrap="square"/>
                    <a:lstStyle/>
                    <a:p>
                      <a:pPr algn="l">
                        <a:defRPr sz="1050">
                          <a:solidFill>
                            <a:srgbClr val="1E293B"/>
                          </a:solidFill>
                          <a:latin typeface="Calibri"/>
                        </a:defRPr>
                      </a:pPr>
                      <a:r>
                        <a:t>1. User Interface Module</a:t>
                      </a:r>
                    </a:p>
                  </a:txBody>
                  <a:tcPr anchor="ctr">
                    <a:solidFill>
                      <a:srgbClr val="FFFFFF"/>
                    </a:solidFill>
                  </a:tcPr>
                </a:tc>
                <a:tc>
                  <a:txBody>
                    <a:bodyPr wrap="square"/>
                    <a:lstStyle/>
                    <a:p>
                      <a:pPr algn="ctr">
                        <a:defRPr sz="1050">
                          <a:solidFill>
                            <a:srgbClr val="1E293B"/>
                          </a:solidFill>
                          <a:latin typeface="Calibri"/>
                        </a:defRPr>
                      </a:pPr>
                      <a:r>
                        <a:t>app.py</a:t>
                      </a:r>
                    </a:p>
                  </a:txBody>
                  <a:tcPr anchor="ctr">
                    <a:solidFill>
                      <a:srgbClr val="FFFFFF"/>
                    </a:solidFill>
                  </a:tcPr>
                </a:tc>
                <a:tc>
                  <a:txBody>
                    <a:bodyPr wrap="square"/>
                    <a:lstStyle/>
                    <a:p>
                      <a:pPr algn="ctr">
                        <a:defRPr sz="1050">
                          <a:solidFill>
                            <a:srgbClr val="1E293B"/>
                          </a:solidFill>
                          <a:latin typeface="Calibri"/>
                        </a:defRPr>
                      </a:pPr>
                      <a:r>
                        <a:t>Renders the 9-page Streamlit web app, progress bar, and user controls.</a:t>
                      </a:r>
                    </a:p>
                  </a:txBody>
                  <a:tcPr anchor="ctr">
                    <a:solidFill>
                      <a:srgbClr val="FFFFFF"/>
                    </a:solidFill>
                  </a:tcPr>
                </a:tc>
                <a:tc>
                  <a:txBody>
                    <a:bodyPr wrap="square"/>
                    <a:lstStyle/>
                    <a:p>
                      <a:pPr algn="ctr">
                        <a:defRPr sz="1050">
                          <a:solidFill>
                            <a:srgbClr val="1E293B"/>
                          </a:solidFill>
                          <a:latin typeface="Calibri"/>
                        </a:defRPr>
                      </a:pPr>
                      <a:r>
                        <a:t>User input / Reactive dashboard UI</a:t>
                      </a:r>
                    </a:p>
                  </a:txBody>
                  <a:tcPr anchor="ctr">
                    <a:solidFill>
                      <a:srgbClr val="FFFFFF"/>
                    </a:solidFill>
                  </a:tcPr>
                </a:tc>
              </a:tr>
              <a:tr h="523240">
                <a:tc>
                  <a:txBody>
                    <a:bodyPr wrap="square"/>
                    <a:lstStyle/>
                    <a:p>
                      <a:pPr algn="l">
                        <a:defRPr sz="1050">
                          <a:solidFill>
                            <a:srgbClr val="1E293B"/>
                          </a:solidFill>
                          <a:latin typeface="Calibri"/>
                        </a:defRPr>
                      </a:pPr>
                      <a:r>
                        <a:t>2. CSV Upload &amp; Validation</a:t>
                      </a:r>
                    </a:p>
                  </a:txBody>
                  <a:tcPr anchor="ctr">
                    <a:solidFill>
                      <a:srgbClr val="F1F5F9"/>
                    </a:solidFill>
                  </a:tcPr>
                </a:tc>
                <a:tc>
                  <a:txBody>
                    <a:bodyPr wrap="square"/>
                    <a:lstStyle/>
                    <a:p>
                      <a:pPr algn="ctr">
                        <a:defRPr sz="1050">
                          <a:solidFill>
                            <a:srgbClr val="1E293B"/>
                          </a:solidFill>
                          <a:latin typeface="Calibri"/>
                        </a:defRPr>
                      </a:pPr>
                      <a:r>
                        <a:t>src/data_loader.py</a:t>
                      </a:r>
                    </a:p>
                  </a:txBody>
                  <a:tcPr anchor="ctr">
                    <a:solidFill>
                      <a:srgbClr val="F1F5F9"/>
                    </a:solidFill>
                  </a:tcPr>
                </a:tc>
                <a:tc>
                  <a:txBody>
                    <a:bodyPr wrap="square"/>
                    <a:lstStyle/>
                    <a:p>
                      <a:pPr algn="ctr">
                        <a:defRPr sz="1050">
                          <a:solidFill>
                            <a:srgbClr val="1E293B"/>
                          </a:solidFill>
                          <a:latin typeface="Calibri"/>
                        </a:defRPr>
                      </a:pPr>
                      <a:r>
                        <a:t>Normalizes column variations, validates OHLCV schema, checks date validity.</a:t>
                      </a:r>
                    </a:p>
                  </a:txBody>
                  <a:tcPr anchor="ctr">
                    <a:solidFill>
                      <a:srgbClr val="F1F5F9"/>
                    </a:solidFill>
                  </a:tcPr>
                </a:tc>
                <a:tc>
                  <a:txBody>
                    <a:bodyPr wrap="square"/>
                    <a:lstStyle/>
                    <a:p>
                      <a:pPr algn="ctr">
                        <a:defRPr sz="1050">
                          <a:solidFill>
                            <a:srgbClr val="1E293B"/>
                          </a:solidFill>
                          <a:latin typeface="Calibri"/>
                        </a:defRPr>
                      </a:pPr>
                      <a:r>
                        <a:t>Raw CSV file -&gt; Validated DataFrame</a:t>
                      </a:r>
                    </a:p>
                  </a:txBody>
                  <a:tcPr anchor="ctr">
                    <a:solidFill>
                      <a:srgbClr val="F1F5F9"/>
                    </a:solidFill>
                  </a:tcPr>
                </a:tc>
              </a:tr>
              <a:tr h="523240">
                <a:tc>
                  <a:txBody>
                    <a:bodyPr wrap="square"/>
                    <a:lstStyle/>
                    <a:p>
                      <a:pPr algn="l">
                        <a:defRPr sz="1050">
                          <a:solidFill>
                            <a:srgbClr val="1E293B"/>
                          </a:solidFill>
                          <a:latin typeface="Calibri"/>
                        </a:defRPr>
                      </a:pPr>
                      <a:r>
                        <a:t>3. Data Preprocessing</a:t>
                      </a:r>
                    </a:p>
                  </a:txBody>
                  <a:tcPr anchor="ctr">
                    <a:solidFill>
                      <a:srgbClr val="FFFFFF"/>
                    </a:solidFill>
                  </a:tcPr>
                </a:tc>
                <a:tc>
                  <a:txBody>
                    <a:bodyPr wrap="square"/>
                    <a:lstStyle/>
                    <a:p>
                      <a:pPr algn="ctr">
                        <a:defRPr sz="1050">
                          <a:solidFill>
                            <a:srgbClr val="1E293B"/>
                          </a:solidFill>
                          <a:latin typeface="Calibri"/>
                        </a:defRPr>
                      </a:pPr>
                      <a:r>
                        <a:t>src/preprocessing.py</a:t>
                      </a:r>
                    </a:p>
                  </a:txBody>
                  <a:tcPr anchor="ctr">
                    <a:solidFill>
                      <a:srgbClr val="FFFFFF"/>
                    </a:solidFill>
                  </a:tcPr>
                </a:tc>
                <a:tc>
                  <a:txBody>
                    <a:bodyPr wrap="square"/>
                    <a:lstStyle/>
                    <a:p>
                      <a:pPr algn="ctr">
                        <a:defRPr sz="1050">
                          <a:solidFill>
                            <a:srgbClr val="1E293B"/>
                          </a:solidFill>
                          <a:latin typeface="Calibri"/>
                        </a:defRPr>
                      </a:pPr>
                      <a:r>
                        <a:t>Cleans data, removes duplicates, handles invalid prices, sorts chronologically.</a:t>
                      </a:r>
                    </a:p>
                  </a:txBody>
                  <a:tcPr anchor="ctr">
                    <a:solidFill>
                      <a:srgbClr val="FFFFFF"/>
                    </a:solidFill>
                  </a:tcPr>
                </a:tc>
                <a:tc>
                  <a:txBody>
                    <a:bodyPr wrap="square"/>
                    <a:lstStyle/>
                    <a:p>
                      <a:pPr algn="ctr">
                        <a:defRPr sz="1050">
                          <a:solidFill>
                            <a:srgbClr val="1E293B"/>
                          </a:solidFill>
                          <a:latin typeface="Calibri"/>
                        </a:defRPr>
                      </a:pPr>
                      <a:r>
                        <a:t>Raw DataFrame -&gt; Cleaned DataFrame</a:t>
                      </a:r>
                    </a:p>
                  </a:txBody>
                  <a:tcPr anchor="ctr">
                    <a:solidFill>
                      <a:srgbClr val="FFFFFF"/>
                    </a:solidFill>
                  </a:tcPr>
                </a:tc>
              </a:tr>
              <a:tr h="523240">
                <a:tc>
                  <a:txBody>
                    <a:bodyPr wrap="square"/>
                    <a:lstStyle/>
                    <a:p>
                      <a:pPr algn="l">
                        <a:defRPr sz="1050">
                          <a:solidFill>
                            <a:srgbClr val="1E293B"/>
                          </a:solidFill>
                          <a:latin typeface="Calibri"/>
                        </a:defRPr>
                      </a:pPr>
                      <a:r>
                        <a:t>4. Exploratory Data Analysis</a:t>
                      </a:r>
                    </a:p>
                  </a:txBody>
                  <a:tcPr anchor="ctr">
                    <a:solidFill>
                      <a:srgbClr val="F1F5F9"/>
                    </a:solidFill>
                  </a:tcPr>
                </a:tc>
                <a:tc>
                  <a:txBody>
                    <a:bodyPr wrap="square"/>
                    <a:lstStyle/>
                    <a:p>
                      <a:pPr algn="ctr">
                        <a:defRPr sz="1050">
                          <a:solidFill>
                            <a:srgbClr val="1E293B"/>
                          </a:solidFill>
                          <a:latin typeface="Calibri"/>
                        </a:defRPr>
                      </a:pPr>
                      <a:r>
                        <a:t>src/eda.py</a:t>
                      </a:r>
                    </a:p>
                  </a:txBody>
                  <a:tcPr anchor="ctr">
                    <a:solidFill>
                      <a:srgbClr val="F1F5F9"/>
                    </a:solidFill>
                  </a:tcPr>
                </a:tc>
                <a:tc>
                  <a:txBody>
                    <a:bodyPr wrap="square"/>
                    <a:lstStyle/>
                    <a:p>
                      <a:pPr algn="ctr">
                        <a:defRPr sz="1050">
                          <a:solidFill>
                            <a:srgbClr val="1E293B"/>
                          </a:solidFill>
                          <a:latin typeface="Calibri"/>
                        </a:defRPr>
                      </a:pPr>
                      <a:r>
                        <a:t>Generates 7 statistical visualizations with interpretations and PNG downloads.</a:t>
                      </a:r>
                    </a:p>
                  </a:txBody>
                  <a:tcPr anchor="ctr">
                    <a:solidFill>
                      <a:srgbClr val="F1F5F9"/>
                    </a:solidFill>
                  </a:tcPr>
                </a:tc>
                <a:tc>
                  <a:txBody>
                    <a:bodyPr wrap="square"/>
                    <a:lstStyle/>
                    <a:p>
                      <a:pPr algn="ctr">
                        <a:defRPr sz="1050">
                          <a:solidFill>
                            <a:srgbClr val="1E293B"/>
                          </a:solidFill>
                          <a:latin typeface="Calibri"/>
                        </a:defRPr>
                      </a:pPr>
                      <a:r>
                        <a:t>Cleaned DataFrame -&gt; Static &amp; Plotly charts</a:t>
                      </a:r>
                    </a:p>
                  </a:txBody>
                  <a:tcPr anchor="ctr">
                    <a:solidFill>
                      <a:srgbClr val="F1F5F9"/>
                    </a:solidFill>
                  </a:tcPr>
                </a:tc>
              </a:tr>
              <a:tr h="523240">
                <a:tc>
                  <a:txBody>
                    <a:bodyPr wrap="square"/>
                    <a:lstStyle/>
                    <a:p>
                      <a:pPr algn="l">
                        <a:defRPr sz="1050">
                          <a:solidFill>
                            <a:srgbClr val="1E293B"/>
                          </a:solidFill>
                          <a:latin typeface="Calibri"/>
                        </a:defRPr>
                      </a:pPr>
                      <a:r>
                        <a:t>5. Feature Engineering</a:t>
                      </a:r>
                    </a:p>
                  </a:txBody>
                  <a:tcPr anchor="ctr">
                    <a:solidFill>
                      <a:srgbClr val="FFFFFF"/>
                    </a:solidFill>
                  </a:tcPr>
                </a:tc>
                <a:tc>
                  <a:txBody>
                    <a:bodyPr wrap="square"/>
                    <a:lstStyle/>
                    <a:p>
                      <a:pPr algn="ctr">
                        <a:defRPr sz="1050">
                          <a:solidFill>
                            <a:srgbClr val="1E293B"/>
                          </a:solidFill>
                          <a:latin typeface="Calibri"/>
                        </a:defRPr>
                      </a:pPr>
                      <a:r>
                        <a:t>src/feature_engineering.py</a:t>
                      </a:r>
                    </a:p>
                  </a:txBody>
                  <a:tcPr anchor="ctr">
                    <a:solidFill>
                      <a:srgbClr val="FFFFFF"/>
                    </a:solidFill>
                  </a:tcPr>
                </a:tc>
                <a:tc>
                  <a:txBody>
                    <a:bodyPr wrap="square"/>
                    <a:lstStyle/>
                    <a:p>
                      <a:pPr algn="ctr">
                        <a:defRPr sz="1050">
                          <a:solidFill>
                            <a:srgbClr val="1E293B"/>
                          </a:solidFill>
                          <a:latin typeface="Calibri"/>
                        </a:defRPr>
                      </a:pPr>
                      <a:r>
                        <a:t>Constructs 10 leakage-free features and calculates next-day target return.</a:t>
                      </a:r>
                    </a:p>
                  </a:txBody>
                  <a:tcPr anchor="ctr">
                    <a:solidFill>
                      <a:srgbClr val="FFFFFF"/>
                    </a:solidFill>
                  </a:tcPr>
                </a:tc>
                <a:tc>
                  <a:txBody>
                    <a:bodyPr wrap="square"/>
                    <a:lstStyle/>
                    <a:p>
                      <a:pPr algn="ctr">
                        <a:defRPr sz="1050">
                          <a:solidFill>
                            <a:srgbClr val="1E293B"/>
                          </a:solidFill>
                          <a:latin typeface="Calibri"/>
                        </a:defRPr>
                      </a:pPr>
                      <a:r>
                        <a:t>Cleaned DataFrame -&gt; (X, y) Modeling Data</a:t>
                      </a:r>
                    </a:p>
                  </a:txBody>
                  <a:tcPr anchor="ctr">
                    <a:solidFill>
                      <a:srgbClr val="FFFFFF"/>
                    </a:solidFill>
                  </a:tcPr>
                </a:tc>
              </a:tr>
              <a:tr h="523240">
                <a:tc>
                  <a:txBody>
                    <a:bodyPr wrap="square"/>
                    <a:lstStyle/>
                    <a:p>
                      <a:pPr algn="l">
                        <a:defRPr sz="1050">
                          <a:solidFill>
                            <a:srgbClr val="1E293B"/>
                          </a:solidFill>
                          <a:latin typeface="Calibri"/>
                        </a:defRPr>
                      </a:pPr>
                      <a:r>
                        <a:t>6. Model Training Module</a:t>
                      </a:r>
                    </a:p>
                  </a:txBody>
                  <a:tcPr anchor="ctr">
                    <a:solidFill>
                      <a:srgbClr val="F1F5F9"/>
                    </a:solidFill>
                  </a:tcPr>
                </a:tc>
                <a:tc>
                  <a:txBody>
                    <a:bodyPr wrap="square"/>
                    <a:lstStyle/>
                    <a:p>
                      <a:pPr algn="ctr">
                        <a:defRPr sz="1050">
                          <a:solidFill>
                            <a:srgbClr val="1E293B"/>
                          </a:solidFill>
                          <a:latin typeface="Calibri"/>
                        </a:defRPr>
                      </a:pPr>
                      <a:r>
                        <a:t>src/train.py</a:t>
                      </a:r>
                    </a:p>
                  </a:txBody>
                  <a:tcPr anchor="ctr">
                    <a:solidFill>
                      <a:srgbClr val="F1F5F9"/>
                    </a:solidFill>
                  </a:tcPr>
                </a:tc>
                <a:tc>
                  <a:txBody>
                    <a:bodyPr wrap="square"/>
                    <a:lstStyle/>
                    <a:p>
                      <a:pPr algn="ctr">
                        <a:defRPr sz="1050">
                          <a:solidFill>
                            <a:srgbClr val="1E293B"/>
                          </a:solidFill>
                          <a:latin typeface="Calibri"/>
                        </a:defRPr>
                      </a:pPr>
                      <a:r>
                        <a:t>Splits data 80/20 chronologically; tunes Ridge &amp; Lasso via TimeSeriesSplit CV.</a:t>
                      </a:r>
                    </a:p>
                  </a:txBody>
                  <a:tcPr anchor="ctr">
                    <a:solidFill>
                      <a:srgbClr val="F1F5F9"/>
                    </a:solidFill>
                  </a:tcPr>
                </a:tc>
                <a:tc>
                  <a:txBody>
                    <a:bodyPr wrap="square"/>
                    <a:lstStyle/>
                    <a:p>
                      <a:pPr algn="ctr">
                        <a:defRPr sz="1050">
                          <a:solidFill>
                            <a:srgbClr val="1E293B"/>
                          </a:solidFill>
                          <a:latin typeface="Calibri"/>
                        </a:defRPr>
                      </a:pPr>
                      <a:r>
                        <a:t>Modeling Data -&gt; Fitted Pipeline models</a:t>
                      </a:r>
                    </a:p>
                  </a:txBody>
                  <a:tcPr anchor="ctr">
                    <a:solidFill>
                      <a:srgbClr val="F1F5F9"/>
                    </a:solidFill>
                  </a:tcPr>
                </a:tc>
              </a:tr>
              <a:tr h="523240">
                <a:tc>
                  <a:txBody>
                    <a:bodyPr wrap="square"/>
                    <a:lstStyle/>
                    <a:p>
                      <a:pPr algn="l">
                        <a:defRPr sz="1050">
                          <a:solidFill>
                            <a:srgbClr val="1E293B"/>
                          </a:solidFill>
                          <a:latin typeface="Calibri"/>
                        </a:defRPr>
                      </a:pPr>
                      <a:r>
                        <a:t>7. Evaluation &amp; Comparison</a:t>
                      </a:r>
                    </a:p>
                  </a:txBody>
                  <a:tcPr anchor="ctr">
                    <a:solidFill>
                      <a:srgbClr val="FFFFFF"/>
                    </a:solidFill>
                  </a:tcPr>
                </a:tc>
                <a:tc>
                  <a:txBody>
                    <a:bodyPr wrap="square"/>
                    <a:lstStyle/>
                    <a:p>
                      <a:pPr algn="ctr">
                        <a:defRPr sz="1050">
                          <a:solidFill>
                            <a:srgbClr val="1E293B"/>
                          </a:solidFill>
                          <a:latin typeface="Calibri"/>
                        </a:defRPr>
                      </a:pPr>
                      <a:r>
                        <a:t>src/evaluate.py</a:t>
                      </a:r>
                    </a:p>
                  </a:txBody>
                  <a:tcPr anchor="ctr">
                    <a:solidFill>
                      <a:srgbClr val="FFFFFF"/>
                    </a:solidFill>
                  </a:tcPr>
                </a:tc>
                <a:tc>
                  <a:txBody>
                    <a:bodyPr wrap="square"/>
                    <a:lstStyle/>
                    <a:p>
                      <a:pPr algn="ctr">
                        <a:defRPr sz="1050">
                          <a:solidFill>
                            <a:srgbClr val="1E293B"/>
                          </a:solidFill>
                          <a:latin typeface="Calibri"/>
                        </a:defRPr>
                      </a:pPr>
                      <a:r>
                        <a:t>Calculates MAE, MSE, RMSE, R², and directional accuracy on unseen test set.</a:t>
                      </a:r>
                    </a:p>
                  </a:txBody>
                  <a:tcPr anchor="ctr">
                    <a:solidFill>
                      <a:srgbClr val="FFFFFF"/>
                    </a:solidFill>
                  </a:tcPr>
                </a:tc>
                <a:tc>
                  <a:txBody>
                    <a:bodyPr wrap="square"/>
                    <a:lstStyle/>
                    <a:p>
                      <a:pPr algn="ctr">
                        <a:defRPr sz="1050">
                          <a:solidFill>
                            <a:srgbClr val="1E293B"/>
                          </a:solidFill>
                          <a:latin typeface="Calibri"/>
                        </a:defRPr>
                      </a:pPr>
                      <a:r>
                        <a:t>Test Split + Models -&gt; Metrics Table &amp; Plots</a:t>
                      </a:r>
                    </a:p>
                  </a:txBody>
                  <a:tcPr anchor="ctr">
                    <a:solidFill>
                      <a:srgbClr val="FFFFFF"/>
                    </a:solidFill>
                  </a:tcPr>
                </a:tc>
              </a:tr>
              <a:tr h="523240">
                <a:tc>
                  <a:txBody>
                    <a:bodyPr wrap="square"/>
                    <a:lstStyle/>
                    <a:p>
                      <a:pPr algn="l">
                        <a:defRPr sz="1050">
                          <a:solidFill>
                            <a:srgbClr val="1E293B"/>
                          </a:solidFill>
                          <a:latin typeface="Calibri"/>
                        </a:defRPr>
                      </a:pPr>
                      <a:r>
                        <a:t>8. Prediction &amp; Reporting</a:t>
                      </a:r>
                    </a:p>
                  </a:txBody>
                  <a:tcPr anchor="ctr">
                    <a:solidFill>
                      <a:srgbClr val="F1F5F9"/>
                    </a:solidFill>
                  </a:tcPr>
                </a:tc>
                <a:tc>
                  <a:txBody>
                    <a:bodyPr wrap="square"/>
                    <a:lstStyle/>
                    <a:p>
                      <a:pPr algn="ctr">
                        <a:defRPr sz="1050">
                          <a:solidFill>
                            <a:srgbClr val="1E293B"/>
                          </a:solidFill>
                          <a:latin typeface="Calibri"/>
                        </a:defRPr>
                      </a:pPr>
                      <a:r>
                        <a:t>src/predict.py &amp; report.py</a:t>
                      </a:r>
                    </a:p>
                  </a:txBody>
                  <a:tcPr anchor="ctr">
                    <a:solidFill>
                      <a:srgbClr val="F1F5F9"/>
                    </a:solidFill>
                  </a:tcPr>
                </a:tc>
                <a:tc>
                  <a:txBody>
                    <a:bodyPr wrap="square"/>
                    <a:lstStyle/>
                    <a:p>
                      <a:pPr algn="ctr">
                        <a:defRPr sz="1050">
                          <a:solidFill>
                            <a:srgbClr val="1E293B"/>
                          </a:solidFill>
                          <a:latin typeface="Calibri"/>
                        </a:defRPr>
                      </a:pPr>
                      <a:r>
                        <a:t>Inference via Mode A &amp; Mode B; generates Markdown and text summary reports.</a:t>
                      </a:r>
                    </a:p>
                  </a:txBody>
                  <a:tcPr anchor="ctr">
                    <a:solidFill>
                      <a:srgbClr val="F1F5F9"/>
                    </a:solidFill>
                  </a:tcPr>
                </a:tc>
                <a:tc>
                  <a:txBody>
                    <a:bodyPr wrap="square"/>
                    <a:lstStyle/>
                    <a:p>
                      <a:pPr algn="ctr">
                        <a:defRPr sz="1050">
                          <a:solidFill>
                            <a:srgbClr val="1E293B"/>
                          </a:solidFill>
                          <a:latin typeface="Calibri"/>
                        </a:defRPr>
                      </a:pPr>
                      <a:r>
                        <a:t>Inputs + Models -&gt; Predictions &amp; Reports</a:t>
                      </a:r>
                    </a:p>
                  </a:txBody>
                  <a:tcPr anchor="ctr">
                    <a:solidFill>
                      <a:srgbClr val="F1F5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CODE IMPLEMENTATION</a:t>
            </a:r>
          </a:p>
          <a:p>
            <a:pPr>
              <a:defRPr sz="2200" b="1">
                <a:solidFill>
                  <a:srgbClr val="0F2042"/>
                </a:solidFill>
                <a:latin typeface="Calibri"/>
              </a:defRPr>
            </a:pPr>
            <a:r>
              <a:t>Implementation Details &amp; Code Architecture</a:t>
            </a:r>
          </a:p>
          <a:p>
            <a:pPr>
              <a:defRPr sz="1100">
                <a:solidFill>
                  <a:srgbClr val="64748B"/>
                </a:solidFill>
                <a:latin typeface="Calibri"/>
              </a:defRPr>
            </a:pPr>
            <a:r>
              <a:t>Key Python implementation strategies, scikit-learn pipelines, and target formulation.</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12 / 21</a:t>
            </a:r>
          </a:p>
        </p:txBody>
      </p:sp>
      <p:sp>
        <p:nvSpPr>
          <p:cNvPr id="8" name="Rectangle 7"/>
          <p:cNvSpPr/>
          <p:nvPr/>
        </p:nvSpPr>
        <p:spPr>
          <a:xfrm>
            <a:off x="731520" y="1463040"/>
            <a:ext cx="521208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754880" cy="4297680"/>
          </a:xfrm>
          <a:prstGeom prst="rect">
            <a:avLst/>
          </a:prstGeom>
          <a:noFill/>
        </p:spPr>
        <p:txBody>
          <a:bodyPr wrap="square">
            <a:spAutoFit/>
          </a:bodyPr>
          <a:lstStyle/>
          <a:p>
            <a:pPr>
              <a:spcAft>
                <a:spcPts val="800"/>
              </a:spcAft>
              <a:defRPr b="1" sz="1500">
                <a:solidFill>
                  <a:srgbClr val="0F2042"/>
                </a:solidFill>
              </a:defRPr>
            </a:pPr>
            <a:r>
              <a:t>Target Variable &amp; Feature Implementation</a:t>
            </a:r>
          </a:p>
          <a:p>
            <a:pPr>
              <a:spcAft>
                <a:spcPts val="1000"/>
              </a:spcAft>
              <a:defRPr sz="950">
                <a:solidFill>
                  <a:srgbClr val="0F2042"/>
                </a:solidFill>
                <a:latin typeface="Courier New"/>
              </a:defRPr>
            </a:pPr>
            <a:r>
              <a:t># Next-Trading-Day Return Formulation (day t+1):</a:t>
            </a:r>
            <a:br/>
            <a:r>
              <a:t>df['target_return'] = df['close'].shift(-1) / df['close'] - 1.0</a:t>
            </a:r>
            <a:br/>
            <a:r>
              <a:t># Drop final observation (target is unobserved):</a:t>
            </a:r>
            <a:br/>
            <a:r>
              <a:t>df = df.dropna(subset=['target_return'])</a:t>
            </a:r>
          </a:p>
          <a:p>
            <a:pPr>
              <a:spcAft>
                <a:spcPts val="600"/>
              </a:spcAft>
              <a:defRPr sz="1100">
                <a:solidFill>
                  <a:srgbClr val="1E293B"/>
                </a:solidFill>
                <a:latin typeface="Calibri"/>
              </a:defRPr>
            </a:pPr>
            <a:r>
              <a:rPr b="1">
                <a:solidFill>
                  <a:srgbClr val="0F2042"/>
                </a:solidFill>
              </a:rPr>
              <a:t>• Chronological Target:</a:t>
            </a:r>
            <a:r>
              <a:rPr b="0">
                <a:solidFill>
                  <a:srgbClr val="1E293B"/>
                </a:solidFill>
              </a:rPr>
              <a:t> Shift(-1) divides tomorrow's close by today's close, subtracting 1 to obtain percentage change.</a:t>
            </a:r>
          </a:p>
          <a:p>
            <a:pPr>
              <a:spcAft>
                <a:spcPts val="600"/>
              </a:spcAft>
              <a:defRPr sz="1100">
                <a:solidFill>
                  <a:srgbClr val="1E293B"/>
                </a:solidFill>
                <a:latin typeface="Calibri"/>
              </a:defRPr>
            </a:pPr>
            <a:r>
              <a:rPr b="1">
                <a:solidFill>
                  <a:srgbClr val="0F2042"/>
                </a:solidFill>
              </a:rPr>
              <a:t>• Warmup Dropping:</a:t>
            </a:r>
            <a:r>
              <a:rPr b="0">
                <a:solidFill>
                  <a:srgbClr val="1E293B"/>
                </a:solidFill>
              </a:rPr>
              <a:t> The 5-day lag feature (return_5d) introduces 5 initial NaN rows; these are cleanly dropped before training.</a:t>
            </a:r>
          </a:p>
          <a:p>
            <a:pPr>
              <a:spcAft>
                <a:spcPts val="600"/>
              </a:spcAft>
              <a:defRPr sz="1100">
                <a:solidFill>
                  <a:srgbClr val="1E293B"/>
                </a:solidFill>
                <a:latin typeface="Calibri"/>
              </a:defRPr>
            </a:pPr>
            <a:r>
              <a:rPr b="1">
                <a:solidFill>
                  <a:srgbClr val="0F2042"/>
                </a:solidFill>
              </a:rPr>
              <a:t>• 10 Inputs at Day t:</a:t>
            </a:r>
            <a:r>
              <a:rPr b="0">
                <a:solidFill>
                  <a:srgbClr val="1E293B"/>
                </a:solidFill>
              </a:rPr>
              <a:t> OHLC prices, volume, daily_return, intraday_return, daily_range, lag_return_1, and return_5d.</a:t>
            </a:r>
          </a:p>
          <a:p>
            <a:pPr>
              <a:spcAft>
                <a:spcPts val="600"/>
              </a:spcAft>
              <a:defRPr sz="1100">
                <a:solidFill>
                  <a:srgbClr val="1E293B"/>
                </a:solidFill>
                <a:latin typeface="Calibri"/>
              </a:defRPr>
            </a:pPr>
            <a:r>
              <a:rPr b="1">
                <a:solidFill>
                  <a:srgbClr val="0F2042"/>
                </a:solidFill>
              </a:rPr>
              <a:t>• Zero Look-Ahead Bias:</a:t>
            </a:r>
            <a:r>
              <a:rPr b="0">
                <a:solidFill>
                  <a:srgbClr val="1E293B"/>
                </a:solidFill>
              </a:rPr>
              <a:t> target_return is never included inside input features X.</a:t>
            </a:r>
          </a:p>
        </p:txBody>
      </p:sp>
      <p:sp>
        <p:nvSpPr>
          <p:cNvPr id="10" name="Rectangle 9"/>
          <p:cNvSpPr/>
          <p:nvPr/>
        </p:nvSpPr>
        <p:spPr>
          <a:xfrm>
            <a:off x="6217920" y="1463040"/>
            <a:ext cx="521208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54880" cy="4297680"/>
          </a:xfrm>
          <a:prstGeom prst="rect">
            <a:avLst/>
          </a:prstGeom>
          <a:noFill/>
        </p:spPr>
        <p:txBody>
          <a:bodyPr wrap="square">
            <a:spAutoFit/>
          </a:bodyPr>
          <a:lstStyle/>
          <a:p>
            <a:pPr>
              <a:spcAft>
                <a:spcPts val="800"/>
              </a:spcAft>
              <a:defRPr b="1" sz="1500">
                <a:solidFill>
                  <a:srgbClr val="0F2042"/>
                </a:solidFill>
              </a:defRPr>
            </a:pPr>
            <a:r>
              <a:t>Pipeline Architecture &amp; Tuning</a:t>
            </a:r>
          </a:p>
          <a:p>
            <a:pPr>
              <a:spcAft>
                <a:spcPts val="1000"/>
              </a:spcAft>
              <a:defRPr sz="950">
                <a:solidFill>
                  <a:srgbClr val="1E40AF"/>
                </a:solidFill>
                <a:latin typeface="Courier New"/>
              </a:defRPr>
            </a:pPr>
            <a:r>
              <a:t># Leakage-Free Scikit-Learn Pipeline:</a:t>
            </a:r>
            <a:br/>
            <a:r>
              <a:t>ridge_pipeline = Pipeline([</a:t>
            </a:r>
            <a:br/>
            <a:r>
              <a:t>    ('scaler', StandardScaler()),</a:t>
            </a:r>
            <a:br/>
            <a:r>
              <a:t>    ('regressor', Ridge(alpha=best_alpha))</a:t>
            </a:r>
            <a:br/>
            <a:r>
              <a:t>])</a:t>
            </a:r>
            <a:br/>
            <a:r>
              <a:t># TimeSeriesSplit Hyperparameter Tuning:</a:t>
            </a:r>
            <a:br/>
            <a:r>
              <a:t>tscv = TimeSeriesSplit(n_splits=5)</a:t>
            </a:r>
            <a:br/>
            <a:r>
              <a:t>grid = GridSearchCV(ridge_pipeline, param_grid, cv=tscv)</a:t>
            </a:r>
          </a:p>
          <a:p>
            <a:pPr>
              <a:spcAft>
                <a:spcPts val="600"/>
              </a:spcAft>
              <a:defRPr sz="1100">
                <a:solidFill>
                  <a:srgbClr val="1E293B"/>
                </a:solidFill>
                <a:latin typeface="Calibri"/>
              </a:defRPr>
            </a:pPr>
            <a:r>
              <a:rPr b="1">
                <a:solidFill>
                  <a:srgbClr val="0F2042"/>
                </a:solidFill>
              </a:rPr>
              <a:t>• Encapsulated Preprocessing:</a:t>
            </a:r>
            <a:r>
              <a:rPr b="0">
                <a:solidFill>
                  <a:srgbClr val="1E293B"/>
                </a:solidFill>
              </a:rPr>
              <a:t> StandardScaler is combined directly with the regressor inside Pipeline, preventing data leakage.</a:t>
            </a:r>
          </a:p>
          <a:p>
            <a:pPr>
              <a:spcAft>
                <a:spcPts val="600"/>
              </a:spcAft>
              <a:defRPr sz="1100">
                <a:solidFill>
                  <a:srgbClr val="1E293B"/>
                </a:solidFill>
                <a:latin typeface="Calibri"/>
              </a:defRPr>
            </a:pPr>
            <a:r>
              <a:rPr b="1">
                <a:solidFill>
                  <a:srgbClr val="0F2042"/>
                </a:solidFill>
              </a:rPr>
              <a:t>• Fit Exclusively on Train:</a:t>
            </a:r>
            <a:r>
              <a:rPr b="0">
                <a:solidFill>
                  <a:srgbClr val="1E293B"/>
                </a:solidFill>
              </a:rPr>
              <a:t> Scaler statistics (mean, variance) are learned solely from the first 80% of chronological observations.</a:t>
            </a:r>
          </a:p>
          <a:p>
            <a:pPr>
              <a:spcAft>
                <a:spcPts val="600"/>
              </a:spcAft>
              <a:defRPr sz="1100">
                <a:solidFill>
                  <a:srgbClr val="1E293B"/>
                </a:solidFill>
                <a:latin typeface="Calibri"/>
              </a:defRPr>
            </a:pPr>
            <a:r>
              <a:rPr b="1">
                <a:solidFill>
                  <a:srgbClr val="0F2042"/>
                </a:solidFill>
              </a:rPr>
              <a:t>• Cross-Validation:</a:t>
            </a:r>
            <a:r>
              <a:rPr b="0">
                <a:solidFill>
                  <a:srgbClr val="1E293B"/>
                </a:solidFill>
              </a:rPr>
              <a:t> TimeSeriesSplit enforces temporal order across 5 folds so past folds never train on future folds.</a:t>
            </a:r>
          </a:p>
          <a:p>
            <a:pPr>
              <a:spcAft>
                <a:spcPts val="600"/>
              </a:spcAft>
              <a:defRPr sz="1100">
                <a:solidFill>
                  <a:srgbClr val="1E293B"/>
                </a:solidFill>
                <a:latin typeface="Calibri"/>
              </a:defRPr>
            </a:pPr>
            <a:r>
              <a:rPr b="1">
                <a:solidFill>
                  <a:srgbClr val="0F2042"/>
                </a:solidFill>
              </a:rPr>
              <a:t>• Model Persistence:</a:t>
            </a:r>
            <a:r>
              <a:rPr b="0">
                <a:solidFill>
                  <a:srgbClr val="1E293B"/>
                </a:solidFill>
              </a:rPr>
              <a:t> Pipelines are serialized using joblib.dump for instant zero-latency loading in Streamlit.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DATA DESCRIPTION</a:t>
            </a:r>
          </a:p>
          <a:p>
            <a:pPr>
              <a:defRPr sz="2200" b="1">
                <a:solidFill>
                  <a:srgbClr val="0F2042"/>
                </a:solidFill>
                <a:latin typeface="Calibri"/>
              </a:defRPr>
            </a:pPr>
            <a:r>
              <a:t>Dataset Schema &amp; Input Characteristics</a:t>
            </a:r>
          </a:p>
          <a:p>
            <a:pPr>
              <a:defRPr sz="1100">
                <a:solidFill>
                  <a:srgbClr val="64748B"/>
                </a:solidFill>
                <a:latin typeface="Calibri"/>
              </a:defRPr>
            </a:pPr>
            <a:r>
              <a:t>Initial examination using Kaggle Reliance Industries stock dataset, with dynamic support for custom CSVs.</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13 / 21</a:t>
            </a:r>
          </a:p>
        </p:txBody>
      </p:sp>
      <p:sp>
        <p:nvSpPr>
          <p:cNvPr id="8" name="Rectangle 7"/>
          <p:cNvSpPr/>
          <p:nvPr/>
        </p:nvSpPr>
        <p:spPr>
          <a:xfrm>
            <a:off x="731520" y="1463040"/>
            <a:ext cx="2560320" cy="960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36192"/>
            <a:ext cx="2377440" cy="822960"/>
          </a:xfrm>
          <a:prstGeom prst="rect">
            <a:avLst/>
          </a:prstGeom>
          <a:noFill/>
        </p:spPr>
        <p:txBody>
          <a:bodyPr wrap="square" lIns="0" tIns="0">
            <a:spAutoFit/>
          </a:bodyPr>
          <a:lstStyle/>
          <a:p>
            <a:pPr>
              <a:defRPr b="1" sz="850">
                <a:solidFill>
                  <a:srgbClr val="0D9488"/>
                </a:solidFill>
              </a:defRPr>
            </a:pPr>
            <a:r>
              <a:t>REFERENCE DATASET</a:t>
            </a:r>
          </a:p>
          <a:p>
            <a:pPr>
              <a:defRPr b="1" sz="1200">
                <a:solidFill>
                  <a:srgbClr val="0F2042"/>
                </a:solidFill>
              </a:defRPr>
            </a:pPr>
            <a:r>
              <a:t>Reliance Industries (RELIANCE.NS)</a:t>
            </a:r>
          </a:p>
          <a:p>
            <a:pPr>
              <a:defRPr sz="850">
                <a:solidFill>
                  <a:srgbClr val="64748B"/>
                </a:solidFill>
              </a:defRPr>
            </a:pPr>
            <a:r>
              <a:t>Source: Kaggle (1996 - 2025)</a:t>
            </a:r>
          </a:p>
        </p:txBody>
      </p:sp>
      <p:sp>
        <p:nvSpPr>
          <p:cNvPr id="10" name="Rectangle 9"/>
          <p:cNvSpPr/>
          <p:nvPr/>
        </p:nvSpPr>
        <p:spPr>
          <a:xfrm>
            <a:off x="3429000" y="1463040"/>
            <a:ext cx="2560320" cy="960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536192"/>
            <a:ext cx="2377440" cy="822960"/>
          </a:xfrm>
          <a:prstGeom prst="rect">
            <a:avLst/>
          </a:prstGeom>
          <a:noFill/>
        </p:spPr>
        <p:txBody>
          <a:bodyPr wrap="square" lIns="0" tIns="0">
            <a:spAutoFit/>
          </a:bodyPr>
          <a:lstStyle/>
          <a:p>
            <a:pPr>
              <a:defRPr b="1" sz="850">
                <a:solidFill>
                  <a:srgbClr val="0D9488"/>
                </a:solidFill>
              </a:defRPr>
            </a:pPr>
            <a:r>
              <a:t>RAW OBSERVATIONS</a:t>
            </a:r>
          </a:p>
          <a:p>
            <a:pPr>
              <a:defRPr b="1" sz="1200">
                <a:solidFill>
                  <a:srgbClr val="0F2042"/>
                </a:solidFill>
              </a:defRPr>
            </a:pPr>
            <a:r>
              <a:t>7,324 Trading Days</a:t>
            </a:r>
          </a:p>
          <a:p>
            <a:pPr>
              <a:defRPr sz="850">
                <a:solidFill>
                  <a:srgbClr val="64748B"/>
                </a:solidFill>
              </a:defRPr>
            </a:pPr>
            <a:r>
              <a:t>0 missing, 0 duplicates</a:t>
            </a:r>
          </a:p>
        </p:txBody>
      </p:sp>
      <p:sp>
        <p:nvSpPr>
          <p:cNvPr id="12" name="Rectangle 11"/>
          <p:cNvSpPr/>
          <p:nvPr/>
        </p:nvSpPr>
        <p:spPr>
          <a:xfrm>
            <a:off x="6126480" y="1463040"/>
            <a:ext cx="2560320" cy="960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536192"/>
            <a:ext cx="2377440" cy="822960"/>
          </a:xfrm>
          <a:prstGeom prst="rect">
            <a:avLst/>
          </a:prstGeom>
          <a:noFill/>
        </p:spPr>
        <p:txBody>
          <a:bodyPr wrap="square" lIns="0" tIns="0">
            <a:spAutoFit/>
          </a:bodyPr>
          <a:lstStyle/>
          <a:p>
            <a:pPr>
              <a:defRPr b="1" sz="850">
                <a:solidFill>
                  <a:srgbClr val="0D9488"/>
                </a:solidFill>
              </a:defRPr>
            </a:pPr>
            <a:r>
              <a:t>MODELING OBSERVATIONS</a:t>
            </a:r>
          </a:p>
          <a:p>
            <a:pPr>
              <a:defRPr b="1" sz="1200">
                <a:solidFill>
                  <a:srgbClr val="0F2042"/>
                </a:solidFill>
              </a:defRPr>
            </a:pPr>
            <a:r>
              <a:t>7,318 Rows</a:t>
            </a:r>
          </a:p>
          <a:p>
            <a:pPr>
              <a:defRPr sz="850">
                <a:solidFill>
                  <a:srgbClr val="64748B"/>
                </a:solidFill>
              </a:defRPr>
            </a:pPr>
            <a:r>
              <a:t>After 5 lag warmup + 1 target drop</a:t>
            </a:r>
          </a:p>
        </p:txBody>
      </p:sp>
      <p:sp>
        <p:nvSpPr>
          <p:cNvPr id="14" name="Rectangle 13"/>
          <p:cNvSpPr/>
          <p:nvPr/>
        </p:nvSpPr>
        <p:spPr>
          <a:xfrm>
            <a:off x="8823960" y="1463040"/>
            <a:ext cx="2560320" cy="960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1536192"/>
            <a:ext cx="2377440" cy="822960"/>
          </a:xfrm>
          <a:prstGeom prst="rect">
            <a:avLst/>
          </a:prstGeom>
          <a:noFill/>
        </p:spPr>
        <p:txBody>
          <a:bodyPr wrap="square" lIns="0" tIns="0">
            <a:spAutoFit/>
          </a:bodyPr>
          <a:lstStyle/>
          <a:p>
            <a:pPr>
              <a:defRPr b="1" sz="850">
                <a:solidFill>
                  <a:srgbClr val="0D9488"/>
                </a:solidFill>
              </a:defRPr>
            </a:pPr>
            <a:r>
              <a:t>DATE SPAN</a:t>
            </a:r>
          </a:p>
          <a:p>
            <a:pPr>
              <a:defRPr b="1" sz="1200">
                <a:solidFill>
                  <a:srgbClr val="0F2042"/>
                </a:solidFill>
              </a:defRPr>
            </a:pPr>
            <a:r>
              <a:t>Jan 1, 1996 - Feb 28, 2025</a:t>
            </a:r>
          </a:p>
          <a:p>
            <a:pPr>
              <a:defRPr sz="850">
                <a:solidFill>
                  <a:srgbClr val="64748B"/>
                </a:solidFill>
              </a:defRPr>
            </a:pPr>
            <a:r>
              <a:t>29 years of market history</a:t>
            </a:r>
          </a:p>
        </p:txBody>
      </p:sp>
      <p:graphicFrame>
        <p:nvGraphicFramePr>
          <p:cNvPr id="16" name="Table 15"/>
          <p:cNvGraphicFramePr>
            <a:graphicFrameLocks noGrp="1"/>
          </p:cNvGraphicFramePr>
          <p:nvPr/>
        </p:nvGraphicFramePr>
        <p:xfrm>
          <a:off x="731520" y="2606040"/>
          <a:ext cx="10728655" cy="3566160"/>
        </p:xfrm>
        <a:graphic>
          <a:graphicData uri="http://schemas.openxmlformats.org/drawingml/2006/table">
            <a:tbl>
              <a:tblPr firstRow="1" bandRow="1">
                <a:tableStyleId>{5C22544A-7EE6-4342-B048-85BDC9FD1C3A}</a:tableStyleId>
              </a:tblPr>
              <a:tblGrid>
                <a:gridCol w="1645920"/>
                <a:gridCol w="1371600"/>
                <a:gridCol w="2011680"/>
                <a:gridCol w="5699455"/>
              </a:tblGrid>
              <a:tr h="396240">
                <a:tc>
                  <a:txBody>
                    <a:bodyPr wrap="square"/>
                    <a:lstStyle/>
                    <a:p>
                      <a:pPr algn="ctr">
                        <a:defRPr sz="1100" b="1">
                          <a:solidFill>
                            <a:srgbClr val="FFFFFF"/>
                          </a:solidFill>
                          <a:latin typeface="Calibri"/>
                        </a:defRPr>
                      </a:pPr>
                      <a:r>
                        <a:t>Column Name</a:t>
                      </a:r>
                    </a:p>
                  </a:txBody>
                  <a:tcPr anchor="ctr">
                    <a:solidFill>
                      <a:srgbClr val="0F2042"/>
                    </a:solidFill>
                  </a:tcPr>
                </a:tc>
                <a:tc>
                  <a:txBody>
                    <a:bodyPr wrap="square"/>
                    <a:lstStyle/>
                    <a:p>
                      <a:pPr algn="ctr">
                        <a:defRPr sz="1100" b="1">
                          <a:solidFill>
                            <a:srgbClr val="FFFFFF"/>
                          </a:solidFill>
                          <a:latin typeface="Calibri"/>
                        </a:defRPr>
                      </a:pPr>
                      <a:r>
                        <a:t>Data Type</a:t>
                      </a:r>
                    </a:p>
                  </a:txBody>
                  <a:tcPr anchor="ctr">
                    <a:solidFill>
                      <a:srgbClr val="0F2042"/>
                    </a:solidFill>
                  </a:tcPr>
                </a:tc>
                <a:tc>
                  <a:txBody>
                    <a:bodyPr wrap="square"/>
                    <a:lstStyle/>
                    <a:p>
                      <a:pPr algn="ctr">
                        <a:defRPr sz="1100" b="1">
                          <a:solidFill>
                            <a:srgbClr val="FFFFFF"/>
                          </a:solidFill>
                          <a:latin typeface="Calibri"/>
                        </a:defRPr>
                      </a:pPr>
                      <a:r>
                        <a:t>Role in Pipeline</a:t>
                      </a:r>
                    </a:p>
                  </a:txBody>
                  <a:tcPr anchor="ctr">
                    <a:solidFill>
                      <a:srgbClr val="0F2042"/>
                    </a:solidFill>
                  </a:tcPr>
                </a:tc>
                <a:tc>
                  <a:txBody>
                    <a:bodyPr wrap="square"/>
                    <a:lstStyle/>
                    <a:p>
                      <a:pPr algn="ctr">
                        <a:defRPr sz="1100" b="1">
                          <a:solidFill>
                            <a:srgbClr val="FFFFFF"/>
                          </a:solidFill>
                          <a:latin typeface="Calibri"/>
                        </a:defRPr>
                      </a:pPr>
                      <a:r>
                        <a:t>Financial Definition / Meaning</a:t>
                      </a:r>
                    </a:p>
                  </a:txBody>
                  <a:tcPr anchor="ctr">
                    <a:solidFill>
                      <a:srgbClr val="0F2042"/>
                    </a:solidFill>
                  </a:tcPr>
                </a:tc>
              </a:tr>
              <a:tr h="396240">
                <a:tc>
                  <a:txBody>
                    <a:bodyPr wrap="square"/>
                    <a:lstStyle/>
                    <a:p>
                      <a:pPr algn="l">
                        <a:defRPr sz="1050">
                          <a:solidFill>
                            <a:srgbClr val="1E293B"/>
                          </a:solidFill>
                          <a:latin typeface="Calibri"/>
                        </a:defRPr>
                      </a:pPr>
                      <a:r>
                        <a:t>date</a:t>
                      </a:r>
                    </a:p>
                  </a:txBody>
                  <a:tcPr anchor="ctr">
                    <a:solidFill>
                      <a:srgbClr val="FFFFFF"/>
                    </a:solidFill>
                  </a:tcPr>
                </a:tc>
                <a:tc>
                  <a:txBody>
                    <a:bodyPr wrap="square"/>
                    <a:lstStyle/>
                    <a:p>
                      <a:pPr algn="ctr">
                        <a:defRPr sz="1050">
                          <a:solidFill>
                            <a:srgbClr val="1E293B"/>
                          </a:solidFill>
                          <a:latin typeface="Calibri"/>
                        </a:defRPr>
                      </a:pPr>
                      <a:r>
                        <a:t>Datetime64</a:t>
                      </a:r>
                    </a:p>
                  </a:txBody>
                  <a:tcPr anchor="ctr">
                    <a:solidFill>
                      <a:srgbClr val="FFFFFF"/>
                    </a:solidFill>
                  </a:tcPr>
                </a:tc>
                <a:tc>
                  <a:txBody>
                    <a:bodyPr wrap="square"/>
                    <a:lstStyle/>
                    <a:p>
                      <a:pPr algn="ctr">
                        <a:defRPr sz="1050">
                          <a:solidFill>
                            <a:srgbClr val="1E293B"/>
                          </a:solidFill>
                          <a:latin typeface="Calibri"/>
                        </a:defRPr>
                      </a:pPr>
                      <a:r>
                        <a:t>Index / Chronology</a:t>
                      </a:r>
                    </a:p>
                  </a:txBody>
                  <a:tcPr anchor="ctr">
                    <a:solidFill>
                      <a:srgbClr val="FFFFFF"/>
                    </a:solidFill>
                  </a:tcPr>
                </a:tc>
                <a:tc>
                  <a:txBody>
                    <a:bodyPr wrap="square"/>
                    <a:lstStyle/>
                    <a:p>
                      <a:pPr algn="ctr">
                        <a:defRPr sz="1050">
                          <a:solidFill>
                            <a:srgbClr val="1E293B"/>
                          </a:solidFill>
                          <a:latin typeface="Calibri"/>
                        </a:defRPr>
                      </a:pPr>
                      <a:r>
                        <a:t>Trading session date (normalized to timezone-naive format).</a:t>
                      </a:r>
                    </a:p>
                  </a:txBody>
                  <a:tcPr anchor="ctr">
                    <a:solidFill>
                      <a:srgbClr val="FFFFFF"/>
                    </a:solidFill>
                  </a:tcPr>
                </a:tc>
              </a:tr>
              <a:tr h="396240">
                <a:tc>
                  <a:txBody>
                    <a:bodyPr wrap="square"/>
                    <a:lstStyle/>
                    <a:p>
                      <a:pPr algn="l">
                        <a:defRPr sz="1050">
                          <a:solidFill>
                            <a:srgbClr val="1E293B"/>
                          </a:solidFill>
                          <a:latin typeface="Calibri"/>
                        </a:defRPr>
                      </a:pPr>
                      <a:r>
                        <a:t>open</a:t>
                      </a:r>
                    </a:p>
                  </a:txBody>
                  <a:tcPr anchor="ctr">
                    <a:solidFill>
                      <a:srgbClr val="F1F5F9"/>
                    </a:solidFill>
                  </a:tcPr>
                </a:tc>
                <a:tc>
                  <a:txBody>
                    <a:bodyPr wrap="square"/>
                    <a:lstStyle/>
                    <a:p>
                      <a:pPr algn="ctr">
                        <a:defRPr sz="1050">
                          <a:solidFill>
                            <a:srgbClr val="1E293B"/>
                          </a:solidFill>
                          <a:latin typeface="Calibri"/>
                        </a:defRPr>
                      </a:pPr>
                      <a:r>
                        <a:t>Float64 (INR)</a:t>
                      </a:r>
                    </a:p>
                  </a:txBody>
                  <a:tcPr anchor="ctr">
                    <a:solidFill>
                      <a:srgbClr val="F1F5F9"/>
                    </a:solidFill>
                  </a:tcPr>
                </a:tc>
                <a:tc>
                  <a:txBody>
                    <a:bodyPr wrap="square"/>
                    <a:lstStyle/>
                    <a:p>
                      <a:pPr algn="ctr">
                        <a:defRPr sz="1050">
                          <a:solidFill>
                            <a:srgbClr val="1E293B"/>
                          </a:solidFill>
                          <a:latin typeface="Calibri"/>
                        </a:defRPr>
                      </a:pPr>
                      <a:r>
                        <a:t>Input Feature</a:t>
                      </a:r>
                    </a:p>
                  </a:txBody>
                  <a:tcPr anchor="ctr">
                    <a:solidFill>
                      <a:srgbClr val="F1F5F9"/>
                    </a:solidFill>
                  </a:tcPr>
                </a:tc>
                <a:tc>
                  <a:txBody>
                    <a:bodyPr wrap="square"/>
                    <a:lstStyle/>
                    <a:p>
                      <a:pPr algn="ctr">
                        <a:defRPr sz="1050">
                          <a:solidFill>
                            <a:srgbClr val="1E293B"/>
                          </a:solidFill>
                          <a:latin typeface="Calibri"/>
                        </a:defRPr>
                      </a:pPr>
                      <a:r>
                        <a:t>Stock price at market open on trading day t.</a:t>
                      </a:r>
                    </a:p>
                  </a:txBody>
                  <a:tcPr anchor="ctr">
                    <a:solidFill>
                      <a:srgbClr val="F1F5F9"/>
                    </a:solidFill>
                  </a:tcPr>
                </a:tc>
              </a:tr>
              <a:tr h="396240">
                <a:tc>
                  <a:txBody>
                    <a:bodyPr wrap="square"/>
                    <a:lstStyle/>
                    <a:p>
                      <a:pPr algn="l">
                        <a:defRPr sz="1050">
                          <a:solidFill>
                            <a:srgbClr val="1E293B"/>
                          </a:solidFill>
                          <a:latin typeface="Calibri"/>
                        </a:defRPr>
                      </a:pPr>
                      <a:r>
                        <a:t>high</a:t>
                      </a:r>
                    </a:p>
                  </a:txBody>
                  <a:tcPr anchor="ctr">
                    <a:solidFill>
                      <a:srgbClr val="FFFFFF"/>
                    </a:solidFill>
                  </a:tcPr>
                </a:tc>
                <a:tc>
                  <a:txBody>
                    <a:bodyPr wrap="square"/>
                    <a:lstStyle/>
                    <a:p>
                      <a:pPr algn="ctr">
                        <a:defRPr sz="1050">
                          <a:solidFill>
                            <a:srgbClr val="1E293B"/>
                          </a:solidFill>
                          <a:latin typeface="Calibri"/>
                        </a:defRPr>
                      </a:pPr>
                      <a:r>
                        <a:t>Float64 (INR)</a:t>
                      </a:r>
                    </a:p>
                  </a:txBody>
                  <a:tcPr anchor="ctr">
                    <a:solidFill>
                      <a:srgbClr val="FFFFFF"/>
                    </a:solidFill>
                  </a:tcPr>
                </a:tc>
                <a:tc>
                  <a:txBody>
                    <a:bodyPr wrap="square"/>
                    <a:lstStyle/>
                    <a:p>
                      <a:pPr algn="ctr">
                        <a:defRPr sz="1050">
                          <a:solidFill>
                            <a:srgbClr val="1E293B"/>
                          </a:solidFill>
                          <a:latin typeface="Calibri"/>
                        </a:defRPr>
                      </a:pPr>
                      <a:r>
                        <a:t>Input Feature</a:t>
                      </a:r>
                    </a:p>
                  </a:txBody>
                  <a:tcPr anchor="ctr">
                    <a:solidFill>
                      <a:srgbClr val="FFFFFF"/>
                    </a:solidFill>
                  </a:tcPr>
                </a:tc>
                <a:tc>
                  <a:txBody>
                    <a:bodyPr wrap="square"/>
                    <a:lstStyle/>
                    <a:p>
                      <a:pPr algn="ctr">
                        <a:defRPr sz="1050">
                          <a:solidFill>
                            <a:srgbClr val="1E293B"/>
                          </a:solidFill>
                          <a:latin typeface="Calibri"/>
                        </a:defRPr>
                      </a:pPr>
                      <a:r>
                        <a:t>Highest price reached during trading day t.</a:t>
                      </a:r>
                    </a:p>
                  </a:txBody>
                  <a:tcPr anchor="ctr">
                    <a:solidFill>
                      <a:srgbClr val="FFFFFF"/>
                    </a:solidFill>
                  </a:tcPr>
                </a:tc>
              </a:tr>
              <a:tr h="396240">
                <a:tc>
                  <a:txBody>
                    <a:bodyPr wrap="square"/>
                    <a:lstStyle/>
                    <a:p>
                      <a:pPr algn="l">
                        <a:defRPr sz="1050">
                          <a:solidFill>
                            <a:srgbClr val="1E293B"/>
                          </a:solidFill>
                          <a:latin typeface="Calibri"/>
                        </a:defRPr>
                      </a:pPr>
                      <a:r>
                        <a:t>low</a:t>
                      </a:r>
                    </a:p>
                  </a:txBody>
                  <a:tcPr anchor="ctr">
                    <a:solidFill>
                      <a:srgbClr val="F1F5F9"/>
                    </a:solidFill>
                  </a:tcPr>
                </a:tc>
                <a:tc>
                  <a:txBody>
                    <a:bodyPr wrap="square"/>
                    <a:lstStyle/>
                    <a:p>
                      <a:pPr algn="ctr">
                        <a:defRPr sz="1050">
                          <a:solidFill>
                            <a:srgbClr val="1E293B"/>
                          </a:solidFill>
                          <a:latin typeface="Calibri"/>
                        </a:defRPr>
                      </a:pPr>
                      <a:r>
                        <a:t>Float64 (INR)</a:t>
                      </a:r>
                    </a:p>
                  </a:txBody>
                  <a:tcPr anchor="ctr">
                    <a:solidFill>
                      <a:srgbClr val="F1F5F9"/>
                    </a:solidFill>
                  </a:tcPr>
                </a:tc>
                <a:tc>
                  <a:txBody>
                    <a:bodyPr wrap="square"/>
                    <a:lstStyle/>
                    <a:p>
                      <a:pPr algn="ctr">
                        <a:defRPr sz="1050">
                          <a:solidFill>
                            <a:srgbClr val="1E293B"/>
                          </a:solidFill>
                          <a:latin typeface="Calibri"/>
                        </a:defRPr>
                      </a:pPr>
                      <a:r>
                        <a:t>Input Feature</a:t>
                      </a:r>
                    </a:p>
                  </a:txBody>
                  <a:tcPr anchor="ctr">
                    <a:solidFill>
                      <a:srgbClr val="F1F5F9"/>
                    </a:solidFill>
                  </a:tcPr>
                </a:tc>
                <a:tc>
                  <a:txBody>
                    <a:bodyPr wrap="square"/>
                    <a:lstStyle/>
                    <a:p>
                      <a:pPr algn="ctr">
                        <a:defRPr sz="1050">
                          <a:solidFill>
                            <a:srgbClr val="1E293B"/>
                          </a:solidFill>
                          <a:latin typeface="Calibri"/>
                        </a:defRPr>
                      </a:pPr>
                      <a:r>
                        <a:t>Lowest price reached during trading day t.</a:t>
                      </a:r>
                    </a:p>
                  </a:txBody>
                  <a:tcPr anchor="ctr">
                    <a:solidFill>
                      <a:srgbClr val="F1F5F9"/>
                    </a:solidFill>
                  </a:tcPr>
                </a:tc>
              </a:tr>
              <a:tr h="396240">
                <a:tc>
                  <a:txBody>
                    <a:bodyPr wrap="square"/>
                    <a:lstStyle/>
                    <a:p>
                      <a:pPr algn="l">
                        <a:defRPr sz="1050">
                          <a:solidFill>
                            <a:srgbClr val="1E293B"/>
                          </a:solidFill>
                          <a:latin typeface="Calibri"/>
                        </a:defRPr>
                      </a:pPr>
                      <a:r>
                        <a:t>close</a:t>
                      </a:r>
                    </a:p>
                  </a:txBody>
                  <a:tcPr anchor="ctr">
                    <a:solidFill>
                      <a:srgbClr val="FFFFFF"/>
                    </a:solidFill>
                  </a:tcPr>
                </a:tc>
                <a:tc>
                  <a:txBody>
                    <a:bodyPr wrap="square"/>
                    <a:lstStyle/>
                    <a:p>
                      <a:pPr algn="ctr">
                        <a:defRPr sz="1050">
                          <a:solidFill>
                            <a:srgbClr val="1E293B"/>
                          </a:solidFill>
                          <a:latin typeface="Calibri"/>
                        </a:defRPr>
                      </a:pPr>
                      <a:r>
                        <a:t>Float64 (INR)</a:t>
                      </a:r>
                    </a:p>
                  </a:txBody>
                  <a:tcPr anchor="ctr">
                    <a:solidFill>
                      <a:srgbClr val="FFFFFF"/>
                    </a:solidFill>
                  </a:tcPr>
                </a:tc>
                <a:tc>
                  <a:txBody>
                    <a:bodyPr wrap="square"/>
                    <a:lstStyle/>
                    <a:p>
                      <a:pPr algn="ctr">
                        <a:defRPr sz="1050">
                          <a:solidFill>
                            <a:srgbClr val="1E293B"/>
                          </a:solidFill>
                          <a:latin typeface="Calibri"/>
                        </a:defRPr>
                      </a:pPr>
                      <a:r>
                        <a:t>Input Feature / Base</a:t>
                      </a:r>
                    </a:p>
                  </a:txBody>
                  <a:tcPr anchor="ctr">
                    <a:solidFill>
                      <a:srgbClr val="FFFFFF"/>
                    </a:solidFill>
                  </a:tcPr>
                </a:tc>
                <a:tc>
                  <a:txBody>
                    <a:bodyPr wrap="square"/>
                    <a:lstStyle/>
                    <a:p>
                      <a:pPr algn="ctr">
                        <a:defRPr sz="1050">
                          <a:solidFill>
                            <a:srgbClr val="1E293B"/>
                          </a:solidFill>
                          <a:latin typeface="Calibri"/>
                        </a:defRPr>
                      </a:pPr>
                      <a:r>
                        <a:t>Closing price at end of day t (used as denominator for return).</a:t>
                      </a:r>
                    </a:p>
                  </a:txBody>
                  <a:tcPr anchor="ctr">
                    <a:solidFill>
                      <a:srgbClr val="FFFFFF"/>
                    </a:solidFill>
                  </a:tcPr>
                </a:tc>
              </a:tr>
              <a:tr h="396240">
                <a:tc>
                  <a:txBody>
                    <a:bodyPr wrap="square"/>
                    <a:lstStyle/>
                    <a:p>
                      <a:pPr algn="l">
                        <a:defRPr sz="1050">
                          <a:solidFill>
                            <a:srgbClr val="1E293B"/>
                          </a:solidFill>
                          <a:latin typeface="Calibri"/>
                        </a:defRPr>
                      </a:pPr>
                      <a:r>
                        <a:t>adj_close</a:t>
                      </a:r>
                    </a:p>
                  </a:txBody>
                  <a:tcPr anchor="ctr">
                    <a:solidFill>
                      <a:srgbClr val="F1F5F9"/>
                    </a:solidFill>
                  </a:tcPr>
                </a:tc>
                <a:tc>
                  <a:txBody>
                    <a:bodyPr wrap="square"/>
                    <a:lstStyle/>
                    <a:p>
                      <a:pPr algn="ctr">
                        <a:defRPr sz="1050">
                          <a:solidFill>
                            <a:srgbClr val="1E293B"/>
                          </a:solidFill>
                          <a:latin typeface="Calibri"/>
                        </a:defRPr>
                      </a:pPr>
                      <a:r>
                        <a:t>Float64 (INR)</a:t>
                      </a:r>
                    </a:p>
                  </a:txBody>
                  <a:tcPr anchor="ctr">
                    <a:solidFill>
                      <a:srgbClr val="F1F5F9"/>
                    </a:solidFill>
                  </a:tcPr>
                </a:tc>
                <a:tc>
                  <a:txBody>
                    <a:bodyPr wrap="square"/>
                    <a:lstStyle/>
                    <a:p>
                      <a:pPr algn="ctr">
                        <a:defRPr sz="1050">
                          <a:solidFill>
                            <a:srgbClr val="1E293B"/>
                          </a:solidFill>
                          <a:latin typeface="Calibri"/>
                        </a:defRPr>
                      </a:pPr>
                      <a:r>
                        <a:t>Optional Reference</a:t>
                      </a:r>
                    </a:p>
                  </a:txBody>
                  <a:tcPr anchor="ctr">
                    <a:solidFill>
                      <a:srgbClr val="F1F5F9"/>
                    </a:solidFill>
                  </a:tcPr>
                </a:tc>
                <a:tc>
                  <a:txBody>
                    <a:bodyPr wrap="square"/>
                    <a:lstStyle/>
                    <a:p>
                      <a:pPr algn="ctr">
                        <a:defRPr sz="1050">
                          <a:solidFill>
                            <a:srgbClr val="1E293B"/>
                          </a:solidFill>
                          <a:latin typeface="Calibri"/>
                        </a:defRPr>
                      </a:pPr>
                      <a:r>
                        <a:t>Close adjusted for stock splits and dividends (treated as optional).</a:t>
                      </a:r>
                    </a:p>
                  </a:txBody>
                  <a:tcPr anchor="ctr">
                    <a:solidFill>
                      <a:srgbClr val="F1F5F9"/>
                    </a:solidFill>
                  </a:tcPr>
                </a:tc>
              </a:tr>
              <a:tr h="396240">
                <a:tc>
                  <a:txBody>
                    <a:bodyPr wrap="square"/>
                    <a:lstStyle/>
                    <a:p>
                      <a:pPr algn="l">
                        <a:defRPr sz="1050">
                          <a:solidFill>
                            <a:srgbClr val="1E293B"/>
                          </a:solidFill>
                          <a:latin typeface="Calibri"/>
                        </a:defRPr>
                      </a:pPr>
                      <a:r>
                        <a:t>volume</a:t>
                      </a:r>
                    </a:p>
                  </a:txBody>
                  <a:tcPr anchor="ctr">
                    <a:solidFill>
                      <a:srgbClr val="FFFFFF"/>
                    </a:solidFill>
                  </a:tcPr>
                </a:tc>
                <a:tc>
                  <a:txBody>
                    <a:bodyPr wrap="square"/>
                    <a:lstStyle/>
                    <a:p>
                      <a:pPr algn="ctr">
                        <a:defRPr sz="1050">
                          <a:solidFill>
                            <a:srgbClr val="1E293B"/>
                          </a:solidFill>
                          <a:latin typeface="Calibri"/>
                        </a:defRPr>
                      </a:pPr>
                      <a:r>
                        <a:t>Int64</a:t>
                      </a:r>
                    </a:p>
                  </a:txBody>
                  <a:tcPr anchor="ctr">
                    <a:solidFill>
                      <a:srgbClr val="FFFFFF"/>
                    </a:solidFill>
                  </a:tcPr>
                </a:tc>
                <a:tc>
                  <a:txBody>
                    <a:bodyPr wrap="square"/>
                    <a:lstStyle/>
                    <a:p>
                      <a:pPr algn="ctr">
                        <a:defRPr sz="1050">
                          <a:solidFill>
                            <a:srgbClr val="1E293B"/>
                          </a:solidFill>
                          <a:latin typeface="Calibri"/>
                        </a:defRPr>
                      </a:pPr>
                      <a:r>
                        <a:t>Input Feature</a:t>
                      </a:r>
                    </a:p>
                  </a:txBody>
                  <a:tcPr anchor="ctr">
                    <a:solidFill>
                      <a:srgbClr val="FFFFFF"/>
                    </a:solidFill>
                  </a:tcPr>
                </a:tc>
                <a:tc>
                  <a:txBody>
                    <a:bodyPr wrap="square"/>
                    <a:lstStyle/>
                    <a:p>
                      <a:pPr algn="ctr">
                        <a:defRPr sz="1050">
                          <a:solidFill>
                            <a:srgbClr val="1E293B"/>
                          </a:solidFill>
                          <a:latin typeface="Calibri"/>
                        </a:defRPr>
                      </a:pPr>
                      <a:r>
                        <a:t>Total number of shares traded during trading day t.</a:t>
                      </a:r>
                    </a:p>
                  </a:txBody>
                  <a:tcPr anchor="ctr">
                    <a:solidFill>
                      <a:srgbClr val="FFFFFF"/>
                    </a:solidFill>
                  </a:tcPr>
                </a:tc>
              </a:tr>
              <a:tr h="396240">
                <a:tc>
                  <a:txBody>
                    <a:bodyPr wrap="square"/>
                    <a:lstStyle/>
                    <a:p>
                      <a:pPr algn="l">
                        <a:defRPr sz="1050">
                          <a:solidFill>
                            <a:srgbClr val="1E293B"/>
                          </a:solidFill>
                          <a:latin typeface="Calibri"/>
                        </a:defRPr>
                      </a:pPr>
                      <a:r>
                        <a:t>target_return</a:t>
                      </a:r>
                    </a:p>
                  </a:txBody>
                  <a:tcPr anchor="ctr">
                    <a:solidFill>
                      <a:srgbClr val="F1F5F9"/>
                    </a:solidFill>
                  </a:tcPr>
                </a:tc>
                <a:tc>
                  <a:txBody>
                    <a:bodyPr wrap="square"/>
                    <a:lstStyle/>
                    <a:p>
                      <a:pPr algn="ctr">
                        <a:defRPr sz="1050">
                          <a:solidFill>
                            <a:srgbClr val="1E293B"/>
                          </a:solidFill>
                          <a:latin typeface="Calibri"/>
                        </a:defRPr>
                      </a:pPr>
                      <a:r>
                        <a:t>Float64</a:t>
                      </a:r>
                    </a:p>
                  </a:txBody>
                  <a:tcPr anchor="ctr">
                    <a:solidFill>
                      <a:srgbClr val="F1F5F9"/>
                    </a:solidFill>
                  </a:tcPr>
                </a:tc>
                <a:tc>
                  <a:txBody>
                    <a:bodyPr wrap="square"/>
                    <a:lstStyle/>
                    <a:p>
                      <a:pPr algn="ctr">
                        <a:defRPr sz="1050">
                          <a:solidFill>
                            <a:srgbClr val="1E293B"/>
                          </a:solidFill>
                          <a:latin typeface="Calibri"/>
                        </a:defRPr>
                      </a:pPr>
                      <a:r>
                        <a:t>Prediction Target</a:t>
                      </a:r>
                    </a:p>
                  </a:txBody>
                  <a:tcPr anchor="ctr">
                    <a:solidFill>
                      <a:srgbClr val="F1F5F9"/>
                    </a:solidFill>
                  </a:tcPr>
                </a:tc>
                <a:tc>
                  <a:txBody>
                    <a:bodyPr wrap="square"/>
                    <a:lstStyle/>
                    <a:p>
                      <a:pPr algn="ctr">
                        <a:defRPr sz="1050">
                          <a:solidFill>
                            <a:srgbClr val="1E293B"/>
                          </a:solidFill>
                          <a:latin typeface="Calibri"/>
                        </a:defRPr>
                      </a:pPr>
                      <a:r>
                        <a:t>Next-trading-day return: (close_{t+1} / close_t) - 1. Removed from inputs.</a:t>
                      </a:r>
                    </a:p>
                  </a:txBody>
                  <a:tcPr anchor="ctr">
                    <a:solidFill>
                      <a:srgbClr val="F1F5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MACHINE LEARNING FOUNDATIONS</a:t>
            </a:r>
          </a:p>
          <a:p>
            <a:pPr>
              <a:defRPr sz="2200" b="1">
                <a:solidFill>
                  <a:srgbClr val="0F2042"/>
                </a:solidFill>
                <a:latin typeface="Calibri"/>
              </a:defRPr>
            </a:pPr>
            <a:r>
              <a:t>Algorithmic Comparison: Ridge vs. Lasso Regression</a:t>
            </a:r>
          </a:p>
          <a:p>
            <a:pPr>
              <a:defRPr sz="1100">
                <a:solidFill>
                  <a:srgbClr val="64748B"/>
                </a:solidFill>
                <a:latin typeface="Calibri"/>
              </a:defRPr>
            </a:pPr>
            <a:r>
              <a:t>Theoretical formulation of L2 vs. L1 penalties and their response to collinear financial features.</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14 / 21</a:t>
            </a:r>
          </a:p>
        </p:txBody>
      </p:sp>
      <p:sp>
        <p:nvSpPr>
          <p:cNvPr id="8" name="Rectangle 7"/>
          <p:cNvSpPr/>
          <p:nvPr/>
        </p:nvSpPr>
        <p:spPr>
          <a:xfrm>
            <a:off x="731520" y="1463040"/>
            <a:ext cx="521208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754880" cy="4297680"/>
          </a:xfrm>
          <a:prstGeom prst="rect">
            <a:avLst/>
          </a:prstGeom>
          <a:noFill/>
        </p:spPr>
        <p:txBody>
          <a:bodyPr wrap="square">
            <a:spAutoFit/>
          </a:bodyPr>
          <a:lstStyle/>
          <a:p>
            <a:pPr>
              <a:spcAft>
                <a:spcPts val="600"/>
              </a:spcAft>
              <a:defRPr b="1" sz="1600">
                <a:solidFill>
                  <a:srgbClr val="1E40AF"/>
                </a:solidFill>
              </a:defRPr>
            </a:pPr>
            <a:r>
              <a:t>Ridge Regression (L2 Regularization)</a:t>
            </a:r>
          </a:p>
          <a:p>
            <a:pPr>
              <a:spcAft>
                <a:spcPts val="1000"/>
              </a:spcAft>
              <a:defRPr sz="1000" b="1">
                <a:solidFill>
                  <a:srgbClr val="0F2042"/>
                </a:solidFill>
                <a:latin typeface="Courier New"/>
              </a:defRPr>
            </a:pPr>
            <a:r>
              <a:t>Objective Function:</a:t>
            </a:r>
            <a:br/>
            <a:r>
              <a:t>min  (1 / 2N) * ||y - Xw||² + α * Σ(w_j²)</a:t>
            </a:r>
          </a:p>
          <a:p>
            <a:pPr>
              <a:spcAft>
                <a:spcPts val="800"/>
              </a:spcAft>
              <a:defRPr sz="1100">
                <a:solidFill>
                  <a:srgbClr val="1E293B"/>
                </a:solidFill>
                <a:latin typeface="Calibri"/>
              </a:defRPr>
            </a:pPr>
            <a:r>
              <a:rPr b="1">
                <a:solidFill>
                  <a:srgbClr val="0F2042"/>
                </a:solidFill>
              </a:rPr>
              <a:t>• L2 Penalty:</a:t>
            </a:r>
            <a:r>
              <a:rPr b="0">
                <a:solidFill>
                  <a:srgbClr val="1E293B"/>
                </a:solidFill>
              </a:rPr>
              <a:t> Penalizes the sum of squared coefficient weights (w²).</a:t>
            </a:r>
          </a:p>
          <a:p>
            <a:pPr>
              <a:spcAft>
                <a:spcPts val="800"/>
              </a:spcAft>
              <a:defRPr sz="1100">
                <a:solidFill>
                  <a:srgbClr val="1E293B"/>
                </a:solidFill>
                <a:latin typeface="Calibri"/>
              </a:defRPr>
            </a:pPr>
            <a:r>
              <a:rPr b="1">
                <a:solidFill>
                  <a:srgbClr val="0F2042"/>
                </a:solidFill>
              </a:rPr>
              <a:t>• Smooth Shrinkage:</a:t>
            </a:r>
            <a:r>
              <a:rPr b="0">
                <a:solidFill>
                  <a:srgbClr val="1E293B"/>
                </a:solidFill>
              </a:rPr>
              <a:t> Shrinks collinear weights proportionately toward zero without setting any weight to exact zero.</a:t>
            </a:r>
          </a:p>
          <a:p>
            <a:pPr>
              <a:spcAft>
                <a:spcPts val="800"/>
              </a:spcAft>
              <a:defRPr sz="1100">
                <a:solidFill>
                  <a:srgbClr val="1E293B"/>
                </a:solidFill>
                <a:latin typeface="Calibri"/>
              </a:defRPr>
            </a:pPr>
            <a:r>
              <a:rPr b="1">
                <a:solidFill>
                  <a:srgbClr val="0F2042"/>
                </a:solidFill>
              </a:rPr>
              <a:t>• Retains All Features:</a:t>
            </a:r>
            <a:r>
              <a:rPr b="0">
                <a:solidFill>
                  <a:srgbClr val="1E293B"/>
                </a:solidFill>
              </a:rPr>
              <a:t> Keeps all 10 inputs active in the prediction formula, distributing weight across correlated price features.</a:t>
            </a:r>
          </a:p>
          <a:p>
            <a:pPr>
              <a:spcAft>
                <a:spcPts val="800"/>
              </a:spcAft>
              <a:defRPr sz="1100">
                <a:solidFill>
                  <a:srgbClr val="1E293B"/>
                </a:solidFill>
                <a:latin typeface="Calibri"/>
              </a:defRPr>
            </a:pPr>
            <a:r>
              <a:rPr b="1">
                <a:solidFill>
                  <a:srgbClr val="0F2042"/>
                </a:solidFill>
              </a:rPr>
              <a:t>• Hyperparameter α:</a:t>
            </a:r>
            <a:r>
              <a:rPr b="0">
                <a:solidFill>
                  <a:srgbClr val="1E293B"/>
                </a:solidFill>
              </a:rPr>
              <a:t> Tuned across [0.001 to 1000.0] via TimeSeriesSplit CV; best α = 10.0.</a:t>
            </a:r>
          </a:p>
        </p:txBody>
      </p:sp>
      <p:sp>
        <p:nvSpPr>
          <p:cNvPr id="10" name="Rectangle 9"/>
          <p:cNvSpPr/>
          <p:nvPr/>
        </p:nvSpPr>
        <p:spPr>
          <a:xfrm>
            <a:off x="6217920" y="1463040"/>
            <a:ext cx="521208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54880" cy="4297680"/>
          </a:xfrm>
          <a:prstGeom prst="rect">
            <a:avLst/>
          </a:prstGeom>
          <a:noFill/>
        </p:spPr>
        <p:txBody>
          <a:bodyPr wrap="square">
            <a:spAutoFit/>
          </a:bodyPr>
          <a:lstStyle/>
          <a:p>
            <a:pPr>
              <a:spcAft>
                <a:spcPts val="600"/>
              </a:spcAft>
              <a:defRPr b="1" sz="1600">
                <a:solidFill>
                  <a:srgbClr val="DC2626"/>
                </a:solidFill>
              </a:defRPr>
            </a:pPr>
            <a:r>
              <a:t>Lasso Regression (L1 Regularization)</a:t>
            </a:r>
          </a:p>
          <a:p>
            <a:pPr>
              <a:spcAft>
                <a:spcPts val="1000"/>
              </a:spcAft>
              <a:defRPr sz="1000" b="1">
                <a:solidFill>
                  <a:srgbClr val="0F2042"/>
                </a:solidFill>
                <a:latin typeface="Courier New"/>
              </a:defRPr>
            </a:pPr>
            <a:r>
              <a:t>Objective Function:</a:t>
            </a:r>
            <a:br/>
            <a:r>
              <a:t>min  (1 / 2N) * ||y - Xw||² + α * Σ|w_j|</a:t>
            </a:r>
          </a:p>
          <a:p>
            <a:pPr>
              <a:spcAft>
                <a:spcPts val="800"/>
              </a:spcAft>
              <a:defRPr sz="1100">
                <a:solidFill>
                  <a:srgbClr val="1E293B"/>
                </a:solidFill>
                <a:latin typeface="Calibri"/>
              </a:defRPr>
            </a:pPr>
            <a:r>
              <a:rPr b="1">
                <a:solidFill>
                  <a:srgbClr val="0F2042"/>
                </a:solidFill>
              </a:rPr>
              <a:t>• L1 Penalty:</a:t>
            </a:r>
            <a:r>
              <a:rPr b="0">
                <a:solidFill>
                  <a:srgbClr val="1E293B"/>
                </a:solidFill>
              </a:rPr>
              <a:t> Penalizes the sum of absolute coefficient weights (|w|).</a:t>
            </a:r>
          </a:p>
          <a:p>
            <a:pPr>
              <a:spcAft>
                <a:spcPts val="800"/>
              </a:spcAft>
              <a:defRPr sz="1100">
                <a:solidFill>
                  <a:srgbClr val="1E293B"/>
                </a:solidFill>
                <a:latin typeface="Calibri"/>
              </a:defRPr>
            </a:pPr>
            <a:r>
              <a:rPr b="1">
                <a:solidFill>
                  <a:srgbClr val="0F2042"/>
                </a:solidFill>
              </a:rPr>
              <a:t>• Sparsity &amp; Feature Selection:</a:t>
            </a:r>
            <a:r>
              <a:rPr b="0">
                <a:solidFill>
                  <a:srgbClr val="1E293B"/>
                </a:solidFill>
              </a:rPr>
              <a:t> The sharp diamond geometry of L1 drives redundant and collinear feature weights to exact zero.</a:t>
            </a:r>
          </a:p>
          <a:p>
            <a:pPr>
              <a:spcAft>
                <a:spcPts val="800"/>
              </a:spcAft>
              <a:defRPr sz="1100">
                <a:solidFill>
                  <a:srgbClr val="1E293B"/>
                </a:solidFill>
                <a:latin typeface="Calibri"/>
              </a:defRPr>
            </a:pPr>
            <a:r>
              <a:rPr b="1">
                <a:solidFill>
                  <a:srgbClr val="0F2042"/>
                </a:solidFill>
              </a:rPr>
              <a:t>• Zeroing Out Price Levels:</a:t>
            </a:r>
            <a:r>
              <a:rPr b="0">
                <a:solidFill>
                  <a:srgbClr val="1E293B"/>
                </a:solidFill>
              </a:rPr>
              <a:t> Lasso automatically set open, high, low, close weights to 0.0, retaining only the 6 relative return/volume features.</a:t>
            </a:r>
          </a:p>
          <a:p>
            <a:pPr>
              <a:spcAft>
                <a:spcPts val="800"/>
              </a:spcAft>
              <a:defRPr sz="1100">
                <a:solidFill>
                  <a:srgbClr val="1E293B"/>
                </a:solidFill>
                <a:latin typeface="Calibri"/>
              </a:defRPr>
            </a:pPr>
            <a:r>
              <a:rPr b="1">
                <a:solidFill>
                  <a:srgbClr val="0F2042"/>
                </a:solidFill>
              </a:rPr>
              <a:t>• Hyperparameter α:</a:t>
            </a:r>
            <a:r>
              <a:rPr b="0">
                <a:solidFill>
                  <a:srgbClr val="1E293B"/>
                </a:solidFill>
              </a:rPr>
              <a:t> Tuned across [1e-6 to 0.1] via TimeSeriesSplit CV; best α = 0.0005.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EXPERIMENTAL RESULTS</a:t>
            </a:r>
          </a:p>
          <a:p>
            <a:pPr>
              <a:defRPr sz="2200" b="1">
                <a:solidFill>
                  <a:srgbClr val="0F2042"/>
                </a:solidFill>
                <a:latin typeface="Calibri"/>
              </a:defRPr>
            </a:pPr>
            <a:r>
              <a:t>Model Evaluation &amp; Out-of-Sample Performance</a:t>
            </a:r>
          </a:p>
          <a:p>
            <a:pPr>
              <a:defRPr sz="1100">
                <a:solidFill>
                  <a:srgbClr val="64748B"/>
                </a:solidFill>
                <a:latin typeface="Calibri"/>
              </a:defRPr>
            </a:pPr>
            <a:r>
              <a:t>Evaluated on 1,464 unseen test trading days (March 28, 2019 to February 27, 2025).</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15 / 21</a:t>
            </a:r>
          </a:p>
        </p:txBody>
      </p:sp>
      <p:sp>
        <p:nvSpPr>
          <p:cNvPr id="8" name="Rectangle 7"/>
          <p:cNvSpPr/>
          <p:nvPr/>
        </p:nvSpPr>
        <p:spPr>
          <a:xfrm>
            <a:off x="731520" y="1463040"/>
            <a:ext cx="566928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5303520" cy="4297680"/>
          </a:xfrm>
          <a:prstGeom prst="rect">
            <a:avLst/>
          </a:prstGeom>
          <a:noFill/>
        </p:spPr>
        <p:txBody>
          <a:bodyPr wrap="square">
            <a:spAutoFit/>
          </a:bodyPr>
          <a:lstStyle/>
          <a:p>
            <a:pPr>
              <a:spcAft>
                <a:spcPts val="800"/>
              </a:spcAft>
              <a:defRPr b="1" sz="1400">
                <a:solidFill>
                  <a:srgbClr val="0F2042"/>
                </a:solidFill>
              </a:defRPr>
            </a:pPr>
            <a:r>
              <a:t>Test-Set Performance Comparison Table</a:t>
            </a:r>
          </a:p>
        </p:txBody>
      </p:sp>
      <p:graphicFrame>
        <p:nvGraphicFramePr>
          <p:cNvPr id="10" name="Table 9"/>
          <p:cNvGraphicFramePr>
            <a:graphicFrameLocks noGrp="1"/>
          </p:cNvGraphicFramePr>
          <p:nvPr/>
        </p:nvGraphicFramePr>
        <p:xfrm>
          <a:off x="914400" y="2103120"/>
          <a:ext cx="5303520" cy="1371600"/>
        </p:xfrm>
        <a:graphic>
          <a:graphicData uri="http://schemas.openxmlformats.org/drawingml/2006/table">
            <a:tbl>
              <a:tblPr firstRow="1" bandRow="1">
                <a:tableStyleId>{5C22544A-7EE6-4342-B048-85BDC9FD1C3A}</a:tableStyleId>
              </a:tblPr>
              <a:tblGrid>
                <a:gridCol w="1645920"/>
                <a:gridCol w="731520"/>
                <a:gridCol w="731520"/>
                <a:gridCol w="731520"/>
                <a:gridCol w="731520"/>
                <a:gridCol w="731520"/>
              </a:tblGrid>
              <a:tr h="457200">
                <a:tc>
                  <a:txBody>
                    <a:bodyPr wrap="square"/>
                    <a:lstStyle/>
                    <a:p>
                      <a:pPr algn="ctr">
                        <a:defRPr sz="1100" b="1">
                          <a:solidFill>
                            <a:srgbClr val="FFFFFF"/>
                          </a:solidFill>
                          <a:latin typeface="Calibri"/>
                        </a:defRPr>
                      </a:pPr>
                      <a:r>
                        <a:t>Model</a:t>
                      </a:r>
                    </a:p>
                  </a:txBody>
                  <a:tcPr anchor="ctr">
                    <a:solidFill>
                      <a:srgbClr val="0F2042"/>
                    </a:solidFill>
                  </a:tcPr>
                </a:tc>
                <a:tc>
                  <a:txBody>
                    <a:bodyPr wrap="square"/>
                    <a:lstStyle/>
                    <a:p>
                      <a:pPr algn="ctr">
                        <a:defRPr sz="1100" b="1">
                          <a:solidFill>
                            <a:srgbClr val="FFFFFF"/>
                          </a:solidFill>
                          <a:latin typeface="Calibri"/>
                        </a:defRPr>
                      </a:pPr>
                      <a:r>
                        <a:t>MAE</a:t>
                      </a:r>
                    </a:p>
                  </a:txBody>
                  <a:tcPr anchor="ctr">
                    <a:solidFill>
                      <a:srgbClr val="0F2042"/>
                    </a:solidFill>
                  </a:tcPr>
                </a:tc>
                <a:tc>
                  <a:txBody>
                    <a:bodyPr wrap="square"/>
                    <a:lstStyle/>
                    <a:p>
                      <a:pPr algn="ctr">
                        <a:defRPr sz="1100" b="1">
                          <a:solidFill>
                            <a:srgbClr val="FFFFFF"/>
                          </a:solidFill>
                          <a:latin typeface="Calibri"/>
                        </a:defRPr>
                      </a:pPr>
                      <a:r>
                        <a:t>MSE</a:t>
                      </a:r>
                    </a:p>
                  </a:txBody>
                  <a:tcPr anchor="ctr">
                    <a:solidFill>
                      <a:srgbClr val="0F2042"/>
                    </a:solidFill>
                  </a:tcPr>
                </a:tc>
                <a:tc>
                  <a:txBody>
                    <a:bodyPr wrap="square"/>
                    <a:lstStyle/>
                    <a:p>
                      <a:pPr algn="ctr">
                        <a:defRPr sz="1100" b="1">
                          <a:solidFill>
                            <a:srgbClr val="FFFFFF"/>
                          </a:solidFill>
                          <a:latin typeface="Calibri"/>
                        </a:defRPr>
                      </a:pPr>
                      <a:r>
                        <a:t>RMSE</a:t>
                      </a:r>
                    </a:p>
                  </a:txBody>
                  <a:tcPr anchor="ctr">
                    <a:solidFill>
                      <a:srgbClr val="0F2042"/>
                    </a:solidFill>
                  </a:tcPr>
                </a:tc>
                <a:tc>
                  <a:txBody>
                    <a:bodyPr wrap="square"/>
                    <a:lstStyle/>
                    <a:p>
                      <a:pPr algn="ctr">
                        <a:defRPr sz="1100" b="1">
                          <a:solidFill>
                            <a:srgbClr val="FFFFFF"/>
                          </a:solidFill>
                          <a:latin typeface="Calibri"/>
                        </a:defRPr>
                      </a:pPr>
                      <a:r>
                        <a:t>R² Score</a:t>
                      </a:r>
                    </a:p>
                  </a:txBody>
                  <a:tcPr anchor="ctr">
                    <a:solidFill>
                      <a:srgbClr val="0F2042"/>
                    </a:solidFill>
                  </a:tcPr>
                </a:tc>
                <a:tc>
                  <a:txBody>
                    <a:bodyPr wrap="square"/>
                    <a:lstStyle/>
                    <a:p>
                      <a:pPr algn="ctr">
                        <a:defRPr sz="1100" b="1">
                          <a:solidFill>
                            <a:srgbClr val="FFFFFF"/>
                          </a:solidFill>
                          <a:latin typeface="Calibri"/>
                        </a:defRPr>
                      </a:pPr>
                      <a:r>
                        <a:t>Directional Acc.</a:t>
                      </a:r>
                    </a:p>
                  </a:txBody>
                  <a:tcPr anchor="ctr">
                    <a:solidFill>
                      <a:srgbClr val="0F2042"/>
                    </a:solidFill>
                  </a:tcPr>
                </a:tc>
              </a:tr>
              <a:tr h="457200">
                <a:tc>
                  <a:txBody>
                    <a:bodyPr wrap="square"/>
                    <a:lstStyle/>
                    <a:p>
                      <a:pPr algn="l">
                        <a:defRPr sz="1050">
                          <a:solidFill>
                            <a:srgbClr val="1E293B"/>
                          </a:solidFill>
                          <a:latin typeface="Calibri"/>
                        </a:defRPr>
                      </a:pPr>
                      <a:r>
                        <a:t>Ridge Regression (L2)</a:t>
                      </a:r>
                    </a:p>
                  </a:txBody>
                  <a:tcPr anchor="ctr">
                    <a:solidFill>
                      <a:srgbClr val="FFFFFF"/>
                    </a:solidFill>
                  </a:tcPr>
                </a:tc>
                <a:tc>
                  <a:txBody>
                    <a:bodyPr wrap="square"/>
                    <a:lstStyle/>
                    <a:p>
                      <a:pPr algn="ctr">
                        <a:defRPr sz="1050">
                          <a:solidFill>
                            <a:srgbClr val="1E293B"/>
                          </a:solidFill>
                          <a:latin typeface="Calibri"/>
                        </a:defRPr>
                      </a:pPr>
                      <a:r>
                        <a:t>0.012671</a:t>
                      </a:r>
                    </a:p>
                  </a:txBody>
                  <a:tcPr anchor="ctr">
                    <a:solidFill>
                      <a:srgbClr val="FFFFFF"/>
                    </a:solidFill>
                  </a:tcPr>
                </a:tc>
                <a:tc>
                  <a:txBody>
                    <a:bodyPr wrap="square"/>
                    <a:lstStyle/>
                    <a:p>
                      <a:pPr algn="ctr">
                        <a:defRPr sz="1050">
                          <a:solidFill>
                            <a:srgbClr val="1E293B"/>
                          </a:solidFill>
                          <a:latin typeface="Calibri"/>
                        </a:defRPr>
                      </a:pPr>
                      <a:r>
                        <a:t>0.000346</a:t>
                      </a:r>
                    </a:p>
                  </a:txBody>
                  <a:tcPr anchor="ctr">
                    <a:solidFill>
                      <a:srgbClr val="FFFFFF"/>
                    </a:solidFill>
                  </a:tcPr>
                </a:tc>
                <a:tc>
                  <a:txBody>
                    <a:bodyPr wrap="square"/>
                    <a:lstStyle/>
                    <a:p>
                      <a:pPr algn="ctr">
                        <a:defRPr sz="1050">
                          <a:solidFill>
                            <a:srgbClr val="1E293B"/>
                          </a:solidFill>
                          <a:latin typeface="Calibri"/>
                        </a:defRPr>
                      </a:pPr>
                      <a:r>
                        <a:t>0.018595</a:t>
                      </a:r>
                    </a:p>
                  </a:txBody>
                  <a:tcPr anchor="ctr">
                    <a:solidFill>
                      <a:srgbClr val="FFFFFF"/>
                    </a:solidFill>
                  </a:tcPr>
                </a:tc>
                <a:tc>
                  <a:txBody>
                    <a:bodyPr wrap="square"/>
                    <a:lstStyle/>
                    <a:p>
                      <a:pPr algn="ctr">
                        <a:defRPr sz="1050">
                          <a:solidFill>
                            <a:srgbClr val="1E293B"/>
                          </a:solidFill>
                          <a:latin typeface="Calibri"/>
                        </a:defRPr>
                      </a:pPr>
                      <a:r>
                        <a:t>-0.024513</a:t>
                      </a:r>
                    </a:p>
                  </a:txBody>
                  <a:tcPr anchor="ctr">
                    <a:solidFill>
                      <a:srgbClr val="FFFFFF"/>
                    </a:solidFill>
                  </a:tcPr>
                </a:tc>
                <a:tc>
                  <a:txBody>
                    <a:bodyPr wrap="square"/>
                    <a:lstStyle/>
                    <a:p>
                      <a:pPr algn="ctr">
                        <a:defRPr sz="1050">
                          <a:solidFill>
                            <a:srgbClr val="1E293B"/>
                          </a:solidFill>
                          <a:latin typeface="Calibri"/>
                        </a:defRPr>
                      </a:pPr>
                      <a:r>
                        <a:t>49.18%</a:t>
                      </a:r>
                    </a:p>
                  </a:txBody>
                  <a:tcPr anchor="ctr">
                    <a:solidFill>
                      <a:srgbClr val="FFFFFF"/>
                    </a:solidFill>
                  </a:tcPr>
                </a:tc>
              </a:tr>
              <a:tr h="457200">
                <a:tc>
                  <a:txBody>
                    <a:bodyPr wrap="square"/>
                    <a:lstStyle/>
                    <a:p>
                      <a:pPr algn="l">
                        <a:defRPr sz="1050">
                          <a:solidFill>
                            <a:srgbClr val="1E293B"/>
                          </a:solidFill>
                          <a:latin typeface="Calibri"/>
                        </a:defRPr>
                      </a:pPr>
                      <a:r>
                        <a:t>Lasso Regression (L1)</a:t>
                      </a:r>
                    </a:p>
                  </a:txBody>
                  <a:tcPr anchor="ctr">
                    <a:solidFill>
                      <a:srgbClr val="F1F5F9"/>
                    </a:solidFill>
                  </a:tcPr>
                </a:tc>
                <a:tc>
                  <a:txBody>
                    <a:bodyPr wrap="square"/>
                    <a:lstStyle/>
                    <a:p>
                      <a:pPr algn="ctr">
                        <a:defRPr sz="1050">
                          <a:solidFill>
                            <a:srgbClr val="1E293B"/>
                          </a:solidFill>
                          <a:latin typeface="Calibri"/>
                        </a:defRPr>
                      </a:pPr>
                      <a:r>
                        <a:t>0.012516</a:t>
                      </a:r>
                    </a:p>
                  </a:txBody>
                  <a:tcPr anchor="ctr">
                    <a:solidFill>
                      <a:srgbClr val="F1F5F9"/>
                    </a:solidFill>
                  </a:tcPr>
                </a:tc>
                <a:tc>
                  <a:txBody>
                    <a:bodyPr wrap="square"/>
                    <a:lstStyle/>
                    <a:p>
                      <a:pPr algn="ctr">
                        <a:defRPr sz="1050">
                          <a:solidFill>
                            <a:srgbClr val="1E293B"/>
                          </a:solidFill>
                          <a:latin typeface="Calibri"/>
                        </a:defRPr>
                      </a:pPr>
                      <a:r>
                        <a:t>0.000340</a:t>
                      </a:r>
                    </a:p>
                  </a:txBody>
                  <a:tcPr anchor="ctr">
                    <a:solidFill>
                      <a:srgbClr val="F1F5F9"/>
                    </a:solidFill>
                  </a:tcPr>
                </a:tc>
                <a:tc>
                  <a:txBody>
                    <a:bodyPr wrap="square"/>
                    <a:lstStyle/>
                    <a:p>
                      <a:pPr algn="ctr">
                        <a:defRPr sz="1050">
                          <a:solidFill>
                            <a:srgbClr val="1E293B"/>
                          </a:solidFill>
                          <a:latin typeface="Calibri"/>
                        </a:defRPr>
                      </a:pPr>
                      <a:r>
                        <a:t>0.018439</a:t>
                      </a:r>
                    </a:p>
                  </a:txBody>
                  <a:tcPr anchor="ctr">
                    <a:solidFill>
                      <a:srgbClr val="F1F5F9"/>
                    </a:solidFill>
                  </a:tcPr>
                </a:tc>
                <a:tc>
                  <a:txBody>
                    <a:bodyPr wrap="square"/>
                    <a:lstStyle/>
                    <a:p>
                      <a:pPr algn="ctr">
                        <a:defRPr sz="1050">
                          <a:solidFill>
                            <a:srgbClr val="1E293B"/>
                          </a:solidFill>
                          <a:latin typeface="Calibri"/>
                        </a:defRPr>
                      </a:pPr>
                      <a:r>
                        <a:t>-0.007373</a:t>
                      </a:r>
                    </a:p>
                  </a:txBody>
                  <a:tcPr anchor="ctr">
                    <a:solidFill>
                      <a:srgbClr val="F1F5F9"/>
                    </a:solidFill>
                  </a:tcPr>
                </a:tc>
                <a:tc>
                  <a:txBody>
                    <a:bodyPr wrap="square"/>
                    <a:lstStyle/>
                    <a:p>
                      <a:pPr algn="ctr">
                        <a:defRPr sz="1050">
                          <a:solidFill>
                            <a:srgbClr val="1E293B"/>
                          </a:solidFill>
                          <a:latin typeface="Calibri"/>
                        </a:defRPr>
                      </a:pPr>
                      <a:r>
                        <a:t>49.66%</a:t>
                      </a:r>
                    </a:p>
                  </a:txBody>
                  <a:tcPr anchor="ctr">
                    <a:solidFill>
                      <a:srgbClr val="F1F5F9"/>
                    </a:solidFill>
                  </a:tcPr>
                </a:tc>
              </a:tr>
            </a:tbl>
          </a:graphicData>
        </a:graphic>
      </p:graphicFrame>
      <p:sp>
        <p:nvSpPr>
          <p:cNvPr id="11" name="TextBox 10"/>
          <p:cNvSpPr txBox="1"/>
          <p:nvPr/>
        </p:nvSpPr>
        <p:spPr>
          <a:xfrm>
            <a:off x="914400" y="3657600"/>
            <a:ext cx="5303520" cy="2377440"/>
          </a:xfrm>
          <a:prstGeom prst="rect">
            <a:avLst/>
          </a:prstGeom>
          <a:noFill/>
        </p:spPr>
        <p:txBody>
          <a:bodyPr wrap="square">
            <a:spAutoFit/>
          </a:bodyPr>
          <a:lstStyle/>
          <a:p>
            <a:pPr>
              <a:spcAft>
                <a:spcPts val="600"/>
              </a:spcAft>
              <a:defRPr sz="1050">
                <a:solidFill>
                  <a:srgbClr val="1E293B"/>
                </a:solidFill>
                <a:latin typeface="Calibri"/>
              </a:defRPr>
            </a:pPr>
            <a:r>
              <a:rPr b="1">
                <a:solidFill>
                  <a:srgbClr val="0F2042"/>
                </a:solidFill>
              </a:rPr>
              <a:t>• Lasso Outperformed Ridge:</a:t>
            </a:r>
            <a:r>
              <a:rPr b="0">
                <a:solidFill>
                  <a:srgbClr val="1E293B"/>
                </a:solidFill>
              </a:rPr>
              <a:t> Achieved lower MAE (0.012516 vs 0.012671), lower RMSE (0.018439 vs 0.018595), and higher R² (-0.007373 vs -0.024513).</a:t>
            </a:r>
          </a:p>
          <a:p>
            <a:pPr>
              <a:spcAft>
                <a:spcPts val="600"/>
              </a:spcAft>
              <a:defRPr sz="1050">
                <a:solidFill>
                  <a:srgbClr val="1E293B"/>
                </a:solidFill>
                <a:latin typeface="Calibri"/>
              </a:defRPr>
            </a:pPr>
            <a:r>
              <a:rPr b="1">
                <a:solidFill>
                  <a:srgbClr val="0F2042"/>
                </a:solidFill>
              </a:rPr>
              <a:t>• Why Lasso Won:</a:t>
            </a:r>
            <a:r>
              <a:rPr b="0">
                <a:solidFill>
                  <a:srgbClr val="1E293B"/>
                </a:solidFill>
              </a:rPr>
              <a:t> Reliance stock price surged from ~Rs.500 (train period) to &gt;Rs.1200 (test period). Lasso set open, high, low, close to 0.0, avoiding scale distortion.</a:t>
            </a:r>
          </a:p>
          <a:p>
            <a:pPr>
              <a:spcAft>
                <a:spcPts val="600"/>
              </a:spcAft>
              <a:defRPr sz="1050">
                <a:solidFill>
                  <a:srgbClr val="1E293B"/>
                </a:solidFill>
                <a:latin typeface="Calibri"/>
              </a:defRPr>
            </a:pPr>
            <a:r>
              <a:rPr b="1">
                <a:solidFill>
                  <a:srgbClr val="0F2042"/>
                </a:solidFill>
              </a:rPr>
              <a:t>• Honest Interpretation of Near-Zero R²:</a:t>
            </a:r>
            <a:r>
              <a:rPr b="0">
                <a:solidFill>
                  <a:srgbClr val="1E293B"/>
                </a:solidFill>
              </a:rPr>
              <a:t> Daily stock returns are dominated by market noise. A slightly negative or near-zero out-of-sample R² is standard in honest finance ML.</a:t>
            </a:r>
          </a:p>
        </p:txBody>
      </p:sp>
      <p:sp>
        <p:nvSpPr>
          <p:cNvPr id="12" name="Rectangle 11"/>
          <p:cNvSpPr/>
          <p:nvPr/>
        </p:nvSpPr>
        <p:spPr>
          <a:xfrm>
            <a:off x="6583680" y="1463040"/>
            <a:ext cx="4876495"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8_model_comparison_bar_chart.png"/>
          <p:cNvPicPr>
            <a:picLocks noChangeAspect="1"/>
          </p:cNvPicPr>
          <p:nvPr/>
        </p:nvPicPr>
        <p:blipFill>
          <a:blip r:embed="rId2"/>
          <a:stretch>
            <a:fillRect/>
          </a:stretch>
        </p:blipFill>
        <p:spPr>
          <a:xfrm>
            <a:off x="6720840" y="1645920"/>
            <a:ext cx="4602175" cy="42976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STREAMLIT WEB APP</a:t>
            </a:r>
          </a:p>
          <a:p>
            <a:pPr>
              <a:defRPr sz="2200" b="1">
                <a:solidFill>
                  <a:srgbClr val="0F2042"/>
                </a:solidFill>
                <a:latin typeface="Calibri"/>
              </a:defRPr>
            </a:pPr>
            <a:r>
              <a:t>Application Interface &amp; Functional Demonstration</a:t>
            </a:r>
          </a:p>
          <a:p>
            <a:pPr>
              <a:defRPr sz="1100">
                <a:solidFill>
                  <a:srgbClr val="64748B"/>
                </a:solidFill>
                <a:latin typeface="Calibri"/>
              </a:defRPr>
            </a:pPr>
            <a:r>
              <a:t>Visual tour of the 9 guided pages implemented in the live interactive web application (app.py).</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16 / 21</a:t>
            </a:r>
          </a:p>
        </p:txBody>
      </p:sp>
      <p:sp>
        <p:nvSpPr>
          <p:cNvPr id="8" name="Rectangle 7"/>
          <p:cNvSpPr/>
          <p:nvPr/>
        </p:nvSpPr>
        <p:spPr>
          <a:xfrm>
            <a:off x="731520" y="1463040"/>
            <a:ext cx="34747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347472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108960" cy="1965960"/>
          </a:xfrm>
          <a:prstGeom prst="rect">
            <a:avLst/>
          </a:prstGeom>
          <a:noFill/>
        </p:spPr>
        <p:txBody>
          <a:bodyPr wrap="square" lIns="0" tIns="0">
            <a:spAutoFit/>
          </a:bodyPr>
          <a:lstStyle/>
          <a:p>
            <a:pPr>
              <a:spcAft>
                <a:spcPts val="600"/>
              </a:spcAft>
              <a:defRPr b="1" sz="1300">
                <a:solidFill>
                  <a:srgbClr val="0F2042"/>
                </a:solidFill>
              </a:defRPr>
            </a:pPr>
            <a:r>
              <a:t>1. Upload &amp; Validation Page</a:t>
            </a:r>
          </a:p>
          <a:p>
            <a:pPr>
              <a:defRPr sz="1050">
                <a:solidFill>
                  <a:srgbClr val="1E293B"/>
                </a:solidFill>
              </a:defRPr>
            </a:pPr>
            <a:r>
              <a:t>Features drag-and-drop CSV uploader, automatic column mapping (Date, Open, High, Low, Close, Volume), dataset hash verification, and 'Analyze Dataset' button.</a:t>
            </a:r>
          </a:p>
        </p:txBody>
      </p:sp>
      <p:sp>
        <p:nvSpPr>
          <p:cNvPr id="11" name="Rectangle 10"/>
          <p:cNvSpPr/>
          <p:nvPr/>
        </p:nvSpPr>
        <p:spPr>
          <a:xfrm>
            <a:off x="4343400" y="1463040"/>
            <a:ext cx="34747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463040"/>
            <a:ext cx="3474720" cy="73152"/>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600200"/>
            <a:ext cx="3108960" cy="1965960"/>
          </a:xfrm>
          <a:prstGeom prst="rect">
            <a:avLst/>
          </a:prstGeom>
          <a:noFill/>
        </p:spPr>
        <p:txBody>
          <a:bodyPr wrap="square" lIns="0" tIns="0">
            <a:spAutoFit/>
          </a:bodyPr>
          <a:lstStyle/>
          <a:p>
            <a:pPr>
              <a:spcAft>
                <a:spcPts val="600"/>
              </a:spcAft>
              <a:defRPr b="1" sz="1300">
                <a:solidFill>
                  <a:srgbClr val="0F2042"/>
                </a:solidFill>
              </a:defRPr>
            </a:pPr>
            <a:r>
              <a:t>2. Dataset Analysis &amp; Audit</a:t>
            </a:r>
          </a:p>
          <a:p>
            <a:pPr>
              <a:defRPr sz="1050">
                <a:solidFill>
                  <a:srgbClr val="1E293B"/>
                </a:solidFill>
              </a:defRPr>
            </a:pPr>
            <a:r>
              <a:t>Presents 10 diagnostic metrics, missing value audit table, duplicate record count, date span check, and raw vs cleaned comparison.</a:t>
            </a:r>
          </a:p>
        </p:txBody>
      </p:sp>
      <p:sp>
        <p:nvSpPr>
          <p:cNvPr id="14" name="Rectangle 13"/>
          <p:cNvSpPr/>
          <p:nvPr/>
        </p:nvSpPr>
        <p:spPr>
          <a:xfrm>
            <a:off x="7955280" y="1463040"/>
            <a:ext cx="34747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80" y="1463040"/>
            <a:ext cx="3474720"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1600200"/>
            <a:ext cx="3108960" cy="1965960"/>
          </a:xfrm>
          <a:prstGeom prst="rect">
            <a:avLst/>
          </a:prstGeom>
          <a:noFill/>
        </p:spPr>
        <p:txBody>
          <a:bodyPr wrap="square" lIns="0" tIns="0">
            <a:spAutoFit/>
          </a:bodyPr>
          <a:lstStyle/>
          <a:p>
            <a:pPr>
              <a:spcAft>
                <a:spcPts val="600"/>
              </a:spcAft>
              <a:defRPr b="1" sz="1300">
                <a:solidFill>
                  <a:srgbClr val="0F2042"/>
                </a:solidFill>
              </a:defRPr>
            </a:pPr>
            <a:r>
              <a:t>3. Exploratory Data Analysis</a:t>
            </a:r>
          </a:p>
          <a:p>
            <a:pPr>
              <a:defRPr sz="1050">
                <a:solidFill>
                  <a:srgbClr val="1E293B"/>
                </a:solidFill>
              </a:defRPr>
            </a:pPr>
            <a:r>
              <a:t>Interactive Plotly &amp; static Matplotlib charts: price trends, 30-day volume MA, return distributions, correlation heatmaps, and boxplots with date filtering.</a:t>
            </a:r>
          </a:p>
        </p:txBody>
      </p:sp>
      <p:sp>
        <p:nvSpPr>
          <p:cNvPr id="17" name="Rectangle 16"/>
          <p:cNvSpPr/>
          <p:nvPr/>
        </p:nvSpPr>
        <p:spPr>
          <a:xfrm>
            <a:off x="731520" y="3886200"/>
            <a:ext cx="34747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886200"/>
            <a:ext cx="3474720" cy="73152"/>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23360"/>
            <a:ext cx="3108960" cy="1965960"/>
          </a:xfrm>
          <a:prstGeom prst="rect">
            <a:avLst/>
          </a:prstGeom>
          <a:noFill/>
        </p:spPr>
        <p:txBody>
          <a:bodyPr wrap="square" lIns="0" tIns="0">
            <a:spAutoFit/>
          </a:bodyPr>
          <a:lstStyle/>
          <a:p>
            <a:pPr>
              <a:spcAft>
                <a:spcPts val="600"/>
              </a:spcAft>
              <a:defRPr b="1" sz="1300">
                <a:solidFill>
                  <a:srgbClr val="0F2042"/>
                </a:solidFill>
              </a:defRPr>
            </a:pPr>
            <a:r>
              <a:t>4. Feature &amp; Model Training</a:t>
            </a:r>
          </a:p>
          <a:p>
            <a:pPr>
              <a:defRPr sz="1050">
                <a:solidFill>
                  <a:srgbClr val="1E293B"/>
                </a:solidFill>
              </a:defRPr>
            </a:pPr>
            <a:r>
              <a:t>Displays the chronological 80/20 split and trains StandardScaler + Ridge/Lasso pipelines on demand via TimeSeriesSplit CV.</a:t>
            </a:r>
          </a:p>
        </p:txBody>
      </p:sp>
      <p:sp>
        <p:nvSpPr>
          <p:cNvPr id="20" name="Rectangle 19"/>
          <p:cNvSpPr/>
          <p:nvPr/>
        </p:nvSpPr>
        <p:spPr>
          <a:xfrm>
            <a:off x="4343400" y="3886200"/>
            <a:ext cx="34747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347472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4023360"/>
            <a:ext cx="3108960" cy="1965960"/>
          </a:xfrm>
          <a:prstGeom prst="rect">
            <a:avLst/>
          </a:prstGeom>
          <a:noFill/>
        </p:spPr>
        <p:txBody>
          <a:bodyPr wrap="square" lIns="0" tIns="0">
            <a:spAutoFit/>
          </a:bodyPr>
          <a:lstStyle/>
          <a:p>
            <a:pPr>
              <a:spcAft>
                <a:spcPts val="600"/>
              </a:spcAft>
              <a:defRPr b="1" sz="1300">
                <a:solidFill>
                  <a:srgbClr val="0F2042"/>
                </a:solidFill>
              </a:defRPr>
            </a:pPr>
            <a:r>
              <a:t>5. Model Comparison &amp; Metrics</a:t>
            </a:r>
          </a:p>
          <a:p>
            <a:pPr>
              <a:defRPr sz="1050">
                <a:solidFill>
                  <a:srgbClr val="1E293B"/>
                </a:solidFill>
              </a:defRPr>
            </a:pPr>
            <a:r>
              <a:t>Side-by-side MAE/MSE/RMSE/R² comparison table, interactive error bar charts, actual vs predicted returns plot, and honest evaluation summary.</a:t>
            </a:r>
          </a:p>
        </p:txBody>
      </p:sp>
      <p:sp>
        <p:nvSpPr>
          <p:cNvPr id="23" name="Rectangle 22"/>
          <p:cNvSpPr/>
          <p:nvPr/>
        </p:nvSpPr>
        <p:spPr>
          <a:xfrm>
            <a:off x="7955280" y="3886200"/>
            <a:ext cx="347472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55280" y="3886200"/>
            <a:ext cx="347472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4023360"/>
            <a:ext cx="3108960" cy="1965960"/>
          </a:xfrm>
          <a:prstGeom prst="rect">
            <a:avLst/>
          </a:prstGeom>
          <a:noFill/>
        </p:spPr>
        <p:txBody>
          <a:bodyPr wrap="square" lIns="0" tIns="0">
            <a:spAutoFit/>
          </a:bodyPr>
          <a:lstStyle/>
          <a:p>
            <a:pPr>
              <a:spcAft>
                <a:spcPts val="600"/>
              </a:spcAft>
              <a:defRPr b="1" sz="1300">
                <a:solidFill>
                  <a:srgbClr val="0F2042"/>
                </a:solidFill>
              </a:defRPr>
            </a:pPr>
            <a:r>
              <a:t>6. Prediction &amp; Report Downloads</a:t>
            </a:r>
          </a:p>
          <a:p>
            <a:pPr>
              <a:defRPr sz="1050">
                <a:solidFill>
                  <a:srgbClr val="1E293B"/>
                </a:solidFill>
              </a:defRPr>
            </a:pPr>
            <a:r>
              <a:t>Mode A (latest historical data) &amp; Mode B (manual input). Generates next-day return %, implied price, and exportable CSV/PNG/Markdown reports.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STRENGTHS</a:t>
            </a:r>
          </a:p>
          <a:p>
            <a:pPr>
              <a:defRPr sz="2200" b="1">
                <a:solidFill>
                  <a:srgbClr val="0F2042"/>
                </a:solidFill>
                <a:latin typeface="Calibri"/>
              </a:defRPr>
            </a:pPr>
            <a:r>
              <a:t>System Advantages &amp; Key Innovations</a:t>
            </a:r>
          </a:p>
          <a:p>
            <a:pPr>
              <a:defRPr sz="1100">
                <a:solidFill>
                  <a:srgbClr val="64748B"/>
                </a:solidFill>
                <a:latin typeface="Calibri"/>
              </a:defRPr>
            </a:pPr>
            <a:r>
              <a:t>Unique benefits of our automated, leakage-free financial machine learning platform.</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17 / 21</a:t>
            </a:r>
          </a:p>
        </p:txBody>
      </p:sp>
      <p:sp>
        <p:nvSpPr>
          <p:cNvPr id="8" name="Rectangle 7"/>
          <p:cNvSpPr/>
          <p:nvPr/>
        </p:nvSpPr>
        <p:spPr>
          <a:xfrm>
            <a:off x="731520" y="14630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4892040" cy="1234440"/>
          </a:xfrm>
          <a:prstGeom prst="rect">
            <a:avLst/>
          </a:prstGeom>
          <a:noFill/>
        </p:spPr>
        <p:txBody>
          <a:bodyPr wrap="square" lIns="0" tIns="0">
            <a:spAutoFit/>
          </a:bodyPr>
          <a:lstStyle/>
          <a:p>
            <a:pPr>
              <a:spcAft>
                <a:spcPts val="300"/>
              </a:spcAft>
              <a:defRPr b="1" sz="1300">
                <a:solidFill>
                  <a:srgbClr val="0D9488"/>
                </a:solidFill>
              </a:defRPr>
            </a:pPr>
            <a:r>
              <a:t>✓ End-to-End Automation</a:t>
            </a:r>
          </a:p>
          <a:p>
            <a:pPr>
              <a:defRPr sz="1050">
                <a:solidFill>
                  <a:srgbClr val="1E293B"/>
                </a:solidFill>
              </a:defRPr>
            </a:pPr>
            <a:r>
              <a:t>Eliminates repetitive manual spreadsheet work by integrating CSV ingestion, normalization, cleaning, EDA, training, and prediction into a single responsive UI.</a:t>
            </a:r>
          </a:p>
        </p:txBody>
      </p:sp>
      <p:sp>
        <p:nvSpPr>
          <p:cNvPr id="10" name="Rectangle 9"/>
          <p:cNvSpPr/>
          <p:nvPr/>
        </p:nvSpPr>
        <p:spPr>
          <a:xfrm>
            <a:off x="6172200" y="14630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572768"/>
            <a:ext cx="4892040" cy="1234440"/>
          </a:xfrm>
          <a:prstGeom prst="rect">
            <a:avLst/>
          </a:prstGeom>
          <a:noFill/>
        </p:spPr>
        <p:txBody>
          <a:bodyPr wrap="square" lIns="0" tIns="0">
            <a:spAutoFit/>
          </a:bodyPr>
          <a:lstStyle/>
          <a:p>
            <a:pPr>
              <a:spcAft>
                <a:spcPts val="300"/>
              </a:spcAft>
              <a:defRPr b="1" sz="1300">
                <a:solidFill>
                  <a:srgbClr val="0D9488"/>
                </a:solidFill>
              </a:defRPr>
            </a:pPr>
            <a:r>
              <a:t>✓ Strict Leakage Prevention</a:t>
            </a:r>
          </a:p>
          <a:p>
            <a:pPr>
              <a:defRPr sz="1050">
                <a:solidFill>
                  <a:srgbClr val="1E293B"/>
                </a:solidFill>
              </a:defRPr>
            </a:pPr>
            <a:r>
              <a:t>Enforces chronological train-test splitting and pipeline-encapsulated scaling (StandardScaler), guaranteeing zero look-ahead bias.</a:t>
            </a:r>
          </a:p>
        </p:txBody>
      </p:sp>
      <p:sp>
        <p:nvSpPr>
          <p:cNvPr id="12" name="Rectangle 11"/>
          <p:cNvSpPr/>
          <p:nvPr/>
        </p:nvSpPr>
        <p:spPr>
          <a:xfrm>
            <a:off x="731520" y="30632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72968"/>
            <a:ext cx="4892040" cy="1234440"/>
          </a:xfrm>
          <a:prstGeom prst="rect">
            <a:avLst/>
          </a:prstGeom>
          <a:noFill/>
        </p:spPr>
        <p:txBody>
          <a:bodyPr wrap="square" lIns="0" tIns="0">
            <a:spAutoFit/>
          </a:bodyPr>
          <a:lstStyle/>
          <a:p>
            <a:pPr>
              <a:spcAft>
                <a:spcPts val="300"/>
              </a:spcAft>
              <a:defRPr b="1" sz="1300">
                <a:solidFill>
                  <a:srgbClr val="0D9488"/>
                </a:solidFill>
              </a:defRPr>
            </a:pPr>
            <a:r>
              <a:t>✓ Flexible Schema Mapping</a:t>
            </a:r>
          </a:p>
          <a:p>
            <a:pPr>
              <a:defRPr sz="1050">
                <a:solidFill>
                  <a:srgbClr val="1E293B"/>
                </a:solidFill>
              </a:defRPr>
            </a:pPr>
            <a:r>
              <a:t>Automatically detects and maps common column header variations across market data providers, requiring zero manual script editing.</a:t>
            </a:r>
          </a:p>
        </p:txBody>
      </p:sp>
      <p:sp>
        <p:nvSpPr>
          <p:cNvPr id="14" name="Rectangle 13"/>
          <p:cNvSpPr/>
          <p:nvPr/>
        </p:nvSpPr>
        <p:spPr>
          <a:xfrm>
            <a:off x="6172200" y="30632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172968"/>
            <a:ext cx="4892040" cy="1234440"/>
          </a:xfrm>
          <a:prstGeom prst="rect">
            <a:avLst/>
          </a:prstGeom>
          <a:noFill/>
        </p:spPr>
        <p:txBody>
          <a:bodyPr wrap="square" lIns="0" tIns="0">
            <a:spAutoFit/>
          </a:bodyPr>
          <a:lstStyle/>
          <a:p>
            <a:pPr>
              <a:spcAft>
                <a:spcPts val="300"/>
              </a:spcAft>
              <a:defRPr b="1" sz="1300">
                <a:solidFill>
                  <a:srgbClr val="0D9488"/>
                </a:solidFill>
              </a:defRPr>
            </a:pPr>
            <a:r>
              <a:t>✓ Rigorous Model Comparison</a:t>
            </a:r>
          </a:p>
          <a:p>
            <a:pPr>
              <a:defRPr sz="1050">
                <a:solidFill>
                  <a:srgbClr val="1E293B"/>
                </a:solidFill>
              </a:defRPr>
            </a:pPr>
            <a:r>
              <a:t>Compares Ridge (L2) and Lasso (L1) on identical chronological partitions with TimeSeriesSplit tuning, demonstrating regularization effects clearly.</a:t>
            </a:r>
          </a:p>
        </p:txBody>
      </p:sp>
      <p:sp>
        <p:nvSpPr>
          <p:cNvPr id="16" name="Rectangle 15"/>
          <p:cNvSpPr/>
          <p:nvPr/>
        </p:nvSpPr>
        <p:spPr>
          <a:xfrm>
            <a:off x="731520" y="46634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773168"/>
            <a:ext cx="4892040" cy="1234440"/>
          </a:xfrm>
          <a:prstGeom prst="rect">
            <a:avLst/>
          </a:prstGeom>
          <a:noFill/>
        </p:spPr>
        <p:txBody>
          <a:bodyPr wrap="square" lIns="0" tIns="0">
            <a:spAutoFit/>
          </a:bodyPr>
          <a:lstStyle/>
          <a:p>
            <a:pPr>
              <a:spcAft>
                <a:spcPts val="300"/>
              </a:spcAft>
              <a:defRPr b="1" sz="1300">
                <a:solidFill>
                  <a:srgbClr val="0D9488"/>
                </a:solidFill>
              </a:defRPr>
            </a:pPr>
            <a:r>
              <a:t>✓ Dual-Mode Inference &amp; Export</a:t>
            </a:r>
          </a:p>
          <a:p>
            <a:pPr>
              <a:defRPr sz="1050">
                <a:solidFill>
                  <a:srgbClr val="1E293B"/>
                </a:solidFill>
              </a:defRPr>
            </a:pPr>
            <a:r>
              <a:t>Supports instant forecasting from latest historical data (Mode A) and custom scenario testing (Mode B), with one-click CSV and report downloads.</a:t>
            </a:r>
          </a:p>
        </p:txBody>
      </p:sp>
      <p:sp>
        <p:nvSpPr>
          <p:cNvPr id="18" name="Rectangle 17"/>
          <p:cNvSpPr/>
          <p:nvPr/>
        </p:nvSpPr>
        <p:spPr>
          <a:xfrm>
            <a:off x="6172200" y="4663440"/>
            <a:ext cx="5257800" cy="14630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773168"/>
            <a:ext cx="4892040" cy="1234440"/>
          </a:xfrm>
          <a:prstGeom prst="rect">
            <a:avLst/>
          </a:prstGeom>
          <a:noFill/>
        </p:spPr>
        <p:txBody>
          <a:bodyPr wrap="square" lIns="0" tIns="0">
            <a:spAutoFit/>
          </a:bodyPr>
          <a:lstStyle/>
          <a:p>
            <a:pPr>
              <a:spcAft>
                <a:spcPts val="300"/>
              </a:spcAft>
              <a:defRPr b="1" sz="1300">
                <a:solidFill>
                  <a:srgbClr val="0D9488"/>
                </a:solidFill>
              </a:defRPr>
            </a:pPr>
            <a:r>
              <a:t>✓ Honest Scientific Reporting</a:t>
            </a:r>
          </a:p>
          <a:p>
            <a:pPr>
              <a:defRPr sz="1050">
                <a:solidFill>
                  <a:srgbClr val="1E293B"/>
                </a:solidFill>
              </a:defRPr>
            </a:pPr>
            <a:r>
              <a:t>Refrains from artificial profit claims, transparently explains near-zero R² values on noisy return data, and includes clear financial risk disclaimers.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USE CASES</a:t>
            </a:r>
          </a:p>
          <a:p>
            <a:pPr>
              <a:defRPr sz="2200" b="1">
                <a:solidFill>
                  <a:srgbClr val="0F2042"/>
                </a:solidFill>
                <a:latin typeface="Calibri"/>
              </a:defRPr>
            </a:pPr>
            <a:r>
              <a:t>Educational &amp; Analytical Applications</a:t>
            </a:r>
          </a:p>
          <a:p>
            <a:pPr>
              <a:defRPr sz="1100">
                <a:solidFill>
                  <a:srgbClr val="64748B"/>
                </a:solidFill>
                <a:latin typeface="Calibri"/>
              </a:defRPr>
            </a:pPr>
            <a:r>
              <a:t>Practical environments where this web application delivers substantial educational and analytical value.</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18 / 21</a:t>
            </a:r>
          </a:p>
        </p:txBody>
      </p:sp>
      <p:sp>
        <p:nvSpPr>
          <p:cNvPr id="8" name="Rectangle 7"/>
          <p:cNvSpPr/>
          <p:nvPr/>
        </p:nvSpPr>
        <p:spPr>
          <a:xfrm>
            <a:off x="731520" y="1463040"/>
            <a:ext cx="5257800" cy="187451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27632"/>
            <a:ext cx="4800600" cy="1554480"/>
          </a:xfrm>
          <a:prstGeom prst="rect">
            <a:avLst/>
          </a:prstGeom>
          <a:noFill/>
        </p:spPr>
        <p:txBody>
          <a:bodyPr wrap="square" lIns="0" tIns="0">
            <a:spAutoFit/>
          </a:bodyPr>
          <a:lstStyle/>
          <a:p>
            <a:pPr>
              <a:spcAft>
                <a:spcPts val="600"/>
              </a:spcAft>
              <a:defRPr b="1" sz="1400">
                <a:solidFill>
                  <a:srgbClr val="1E40AF"/>
                </a:solidFill>
              </a:defRPr>
            </a:pPr>
            <a:r>
              <a:t>1. Academic Machine Learning Labs</a:t>
            </a:r>
          </a:p>
          <a:p>
            <a:pPr>
              <a:defRPr sz="1100">
                <a:solidFill>
                  <a:srgbClr val="1E293B"/>
                </a:solidFill>
              </a:defRPr>
            </a:pPr>
            <a:r>
              <a:t>Serves as an interactive laboratory tool for B.Tech/M.Tech students to experiment with regression regularization, feature collinearity, and time-series evaluation.</a:t>
            </a:r>
          </a:p>
        </p:txBody>
      </p:sp>
      <p:sp>
        <p:nvSpPr>
          <p:cNvPr id="10" name="Rectangle 9"/>
          <p:cNvSpPr/>
          <p:nvPr/>
        </p:nvSpPr>
        <p:spPr>
          <a:xfrm>
            <a:off x="6172200" y="1463040"/>
            <a:ext cx="5257800" cy="187451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27632"/>
            <a:ext cx="4800600" cy="1554480"/>
          </a:xfrm>
          <a:prstGeom prst="rect">
            <a:avLst/>
          </a:prstGeom>
          <a:noFill/>
        </p:spPr>
        <p:txBody>
          <a:bodyPr wrap="square" lIns="0" tIns="0">
            <a:spAutoFit/>
          </a:bodyPr>
          <a:lstStyle/>
          <a:p>
            <a:pPr>
              <a:spcAft>
                <a:spcPts val="600"/>
              </a:spcAft>
              <a:defRPr b="1" sz="1400">
                <a:solidFill>
                  <a:srgbClr val="0F2042"/>
                </a:solidFill>
              </a:defRPr>
            </a:pPr>
            <a:r>
              <a:t>2. Quantitative Finance Seminars</a:t>
            </a:r>
          </a:p>
          <a:p>
            <a:pPr>
              <a:defRPr sz="1100">
                <a:solidFill>
                  <a:srgbClr val="1E293B"/>
                </a:solidFill>
              </a:defRPr>
            </a:pPr>
            <a:r>
              <a:t>Demonstrates the vital empirical difference between non-stationary price forecasting and stationary return forecasting in university finance curricula.</a:t>
            </a:r>
          </a:p>
        </p:txBody>
      </p:sp>
      <p:sp>
        <p:nvSpPr>
          <p:cNvPr id="12" name="Rectangle 11"/>
          <p:cNvSpPr/>
          <p:nvPr/>
        </p:nvSpPr>
        <p:spPr>
          <a:xfrm>
            <a:off x="731520" y="3474720"/>
            <a:ext cx="5257800" cy="187451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639312"/>
            <a:ext cx="4800600" cy="1554480"/>
          </a:xfrm>
          <a:prstGeom prst="rect">
            <a:avLst/>
          </a:prstGeom>
          <a:noFill/>
        </p:spPr>
        <p:txBody>
          <a:bodyPr wrap="square" lIns="0" tIns="0">
            <a:spAutoFit/>
          </a:bodyPr>
          <a:lstStyle/>
          <a:p>
            <a:pPr>
              <a:spcAft>
                <a:spcPts val="600"/>
              </a:spcAft>
              <a:defRPr b="1" sz="1400">
                <a:solidFill>
                  <a:srgbClr val="0D9488"/>
                </a:solidFill>
              </a:defRPr>
            </a:pPr>
            <a:r>
              <a:t>3. Algorithmic Baseline Benchmarking</a:t>
            </a:r>
          </a:p>
          <a:p>
            <a:pPr>
              <a:defRPr sz="1100">
                <a:solidFill>
                  <a:srgbClr val="1E293B"/>
                </a:solidFill>
              </a:defRPr>
            </a:pPr>
            <a:r>
              <a:t>Provides a transparent, reproducible linear baseline benchmark against which complex deep learning (LSTM) or boosting models can be tested.</a:t>
            </a:r>
          </a:p>
        </p:txBody>
      </p:sp>
      <p:sp>
        <p:nvSpPr>
          <p:cNvPr id="14" name="Rectangle 13"/>
          <p:cNvSpPr/>
          <p:nvPr/>
        </p:nvSpPr>
        <p:spPr>
          <a:xfrm>
            <a:off x="6172200" y="3474720"/>
            <a:ext cx="5257800" cy="187451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639312"/>
            <a:ext cx="4800600" cy="1554480"/>
          </a:xfrm>
          <a:prstGeom prst="rect">
            <a:avLst/>
          </a:prstGeom>
          <a:noFill/>
        </p:spPr>
        <p:txBody>
          <a:bodyPr wrap="square" lIns="0" tIns="0">
            <a:spAutoFit/>
          </a:bodyPr>
          <a:lstStyle/>
          <a:p>
            <a:pPr>
              <a:spcAft>
                <a:spcPts val="600"/>
              </a:spcAft>
              <a:defRPr b="1" sz="1400">
                <a:solidFill>
                  <a:srgbClr val="0F2042"/>
                </a:solidFill>
              </a:defRPr>
            </a:pPr>
            <a:r>
              <a:t>4. Financial Data Quality Auditing</a:t>
            </a:r>
          </a:p>
          <a:p>
            <a:pPr>
              <a:defRPr sz="1100">
                <a:solidFill>
                  <a:srgbClr val="1E293B"/>
                </a:solidFill>
              </a:defRPr>
            </a:pPr>
            <a:r>
              <a:t>Enables students and analysts to quickly inspect stock CSV health, spot price anomalies, check trading volume patterns, and identify duplicate dates.</a:t>
            </a:r>
          </a:p>
        </p:txBody>
      </p:sp>
      <p:sp>
        <p:nvSpPr>
          <p:cNvPr id="16" name="Rectangle 15"/>
          <p:cNvSpPr/>
          <p:nvPr/>
        </p:nvSpPr>
        <p:spPr>
          <a:xfrm>
            <a:off x="731520" y="5486400"/>
            <a:ext cx="10728655" cy="731520"/>
          </a:xfrm>
          <a:prstGeom prst="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559552"/>
            <a:ext cx="10362895" cy="594360"/>
          </a:xfrm>
          <a:prstGeom prst="rect">
            <a:avLst/>
          </a:prstGeom>
          <a:noFill/>
        </p:spPr>
        <p:txBody>
          <a:bodyPr wrap="none">
            <a:spAutoFit/>
          </a:bodyPr>
          <a:lstStyle/>
          <a:p>
            <a:pPr>
              <a:defRPr sz="1000" b="1">
                <a:solidFill>
                  <a:srgbClr val="92400E"/>
                </a:solidFill>
              </a:defRPr>
            </a:pPr>
            <a:r>
              <a:t>⚠️ Mandatory Educational Disclaimer: All predictions and metrics are experimental estimates designed for academic study. The application does not guarantee future market movements and does not constitute personalized investment advice.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CRITICAL ANALYSIS</a:t>
            </a:r>
          </a:p>
          <a:p>
            <a:pPr>
              <a:defRPr sz="2200" b="1">
                <a:solidFill>
                  <a:srgbClr val="0F2042"/>
                </a:solidFill>
                <a:latin typeface="Calibri"/>
              </a:defRPr>
            </a:pPr>
            <a:r>
              <a:t>Project Limitations &amp; Market Realities</a:t>
            </a:r>
          </a:p>
          <a:p>
            <a:pPr>
              <a:defRPr sz="1100">
                <a:solidFill>
                  <a:srgbClr val="64748B"/>
                </a:solidFill>
                <a:latin typeface="Calibri"/>
              </a:defRPr>
            </a:pPr>
            <a:r>
              <a:t>Acknowledging empirical constraints, linear assumptions, and unmodeled real-world financial factors.</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19 / 21</a:t>
            </a:r>
          </a:p>
        </p:txBody>
      </p:sp>
      <p:sp>
        <p:nvSpPr>
          <p:cNvPr id="8" name="Rectangle 7"/>
          <p:cNvSpPr/>
          <p:nvPr/>
        </p:nvSpPr>
        <p:spPr>
          <a:xfrm>
            <a:off x="731520" y="1463040"/>
            <a:ext cx="525780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92040" cy="1965960"/>
          </a:xfrm>
          <a:prstGeom prst="rect">
            <a:avLst/>
          </a:prstGeom>
          <a:noFill/>
        </p:spPr>
        <p:txBody>
          <a:bodyPr wrap="square" lIns="0" tIns="0">
            <a:spAutoFit/>
          </a:bodyPr>
          <a:lstStyle/>
          <a:p>
            <a:pPr>
              <a:spcAft>
                <a:spcPts val="600"/>
              </a:spcAft>
              <a:defRPr b="1" sz="1350">
                <a:solidFill>
                  <a:srgbClr val="DC2626"/>
                </a:solidFill>
              </a:defRPr>
            </a:pPr>
            <a:r>
              <a:t>⚠️ High Noise-to-Signal Ratio</a:t>
            </a:r>
          </a:p>
          <a:p>
            <a:pPr>
              <a:spcAft>
                <a:spcPts val="600"/>
              </a:spcAft>
              <a:defRPr sz="1050">
                <a:solidFill>
                  <a:srgbClr val="1E293B"/>
                </a:solidFill>
                <a:latin typeface="Calibri"/>
              </a:defRPr>
            </a:pPr>
            <a:r>
              <a:t>• Daily stock returns are heavily dominated by random market noise and unforeseen breaking news (earnings releases, RBI policy shifts, geopolitical events).</a:t>
            </a:r>
          </a:p>
          <a:p>
            <a:pPr>
              <a:spcAft>
                <a:spcPts val="600"/>
              </a:spcAft>
              <a:defRPr sz="1050">
                <a:solidFill>
                  <a:srgbClr val="1E293B"/>
                </a:solidFill>
                <a:latin typeface="Calibri"/>
              </a:defRPr>
            </a:pPr>
            <a:r>
              <a:t>• Consistent with the Efficient Market Hypothesis (EMH), historical price patterns alone explain only a small fraction of next-day return variance.</a:t>
            </a:r>
          </a:p>
        </p:txBody>
      </p:sp>
      <p:sp>
        <p:nvSpPr>
          <p:cNvPr id="10" name="Rectangle 9"/>
          <p:cNvSpPr/>
          <p:nvPr/>
        </p:nvSpPr>
        <p:spPr>
          <a:xfrm>
            <a:off x="6172200" y="1463040"/>
            <a:ext cx="525780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00200"/>
            <a:ext cx="4892040" cy="1965960"/>
          </a:xfrm>
          <a:prstGeom prst="rect">
            <a:avLst/>
          </a:prstGeom>
          <a:noFill/>
        </p:spPr>
        <p:txBody>
          <a:bodyPr wrap="square" lIns="0" tIns="0">
            <a:spAutoFit/>
          </a:bodyPr>
          <a:lstStyle/>
          <a:p>
            <a:pPr>
              <a:spcAft>
                <a:spcPts val="600"/>
              </a:spcAft>
              <a:defRPr b="1" sz="1350">
                <a:solidFill>
                  <a:srgbClr val="DC2626"/>
                </a:solidFill>
              </a:defRPr>
            </a:pPr>
            <a:r>
              <a:t>⚠️ Linearity Constraint of Ridge &amp; Lasso</a:t>
            </a:r>
          </a:p>
          <a:p>
            <a:pPr>
              <a:spcAft>
                <a:spcPts val="600"/>
              </a:spcAft>
              <a:defRPr sz="1050">
                <a:solidFill>
                  <a:srgbClr val="1E293B"/>
                </a:solidFill>
                <a:latin typeface="Calibri"/>
              </a:defRPr>
            </a:pPr>
            <a:r>
              <a:t>• Both models assume strictly linear relationships between engineered technical features and the target return.</a:t>
            </a:r>
          </a:p>
          <a:p>
            <a:pPr>
              <a:spcAft>
                <a:spcPts val="600"/>
              </a:spcAft>
              <a:defRPr sz="1050">
                <a:solidFill>
                  <a:srgbClr val="1E293B"/>
                </a:solidFill>
                <a:latin typeface="Calibri"/>
              </a:defRPr>
            </a:pPr>
            <a:r>
              <a:t>• Cannot capture complex non-linear interactions, regime shifts (bull vs bear markets), or asymmetric volatility without manual polynomial expansion.</a:t>
            </a:r>
          </a:p>
        </p:txBody>
      </p:sp>
      <p:sp>
        <p:nvSpPr>
          <p:cNvPr id="12" name="Rectangle 11"/>
          <p:cNvSpPr/>
          <p:nvPr/>
        </p:nvSpPr>
        <p:spPr>
          <a:xfrm>
            <a:off x="731520" y="3886200"/>
            <a:ext cx="525780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23360"/>
            <a:ext cx="4892040" cy="1965960"/>
          </a:xfrm>
          <a:prstGeom prst="rect">
            <a:avLst/>
          </a:prstGeom>
          <a:noFill/>
        </p:spPr>
        <p:txBody>
          <a:bodyPr wrap="square" lIns="0" tIns="0">
            <a:spAutoFit/>
          </a:bodyPr>
          <a:lstStyle/>
          <a:p>
            <a:pPr>
              <a:spcAft>
                <a:spcPts val="600"/>
              </a:spcAft>
              <a:defRPr b="1" sz="1350">
                <a:solidFill>
                  <a:srgbClr val="DC2626"/>
                </a:solidFill>
              </a:defRPr>
            </a:pPr>
            <a:r>
              <a:t>⚠️ Absence of Market Frictions</a:t>
            </a:r>
          </a:p>
          <a:p>
            <a:pPr>
              <a:spcAft>
                <a:spcPts val="600"/>
              </a:spcAft>
              <a:defRPr sz="1050">
                <a:solidFill>
                  <a:srgbClr val="1E293B"/>
                </a:solidFill>
                <a:latin typeface="Calibri"/>
              </a:defRPr>
            </a:pPr>
            <a:r>
              <a:t>• Predictions reflect theoretical gross returns and do not account for brokerage charges, Securities Transaction Tax (STT), or bid-ask slippage.</a:t>
            </a:r>
          </a:p>
          <a:p>
            <a:pPr>
              <a:spcAft>
                <a:spcPts val="600"/>
              </a:spcAft>
              <a:defRPr sz="1050">
                <a:solidFill>
                  <a:srgbClr val="1E293B"/>
                </a:solidFill>
                <a:latin typeface="Calibri"/>
              </a:defRPr>
            </a:pPr>
            <a:r>
              <a:t>• A small positive theoretical return may not translate into profitable real-world trading after accounting for execution costs.</a:t>
            </a:r>
          </a:p>
        </p:txBody>
      </p:sp>
      <p:sp>
        <p:nvSpPr>
          <p:cNvPr id="14" name="Rectangle 13"/>
          <p:cNvSpPr/>
          <p:nvPr/>
        </p:nvSpPr>
        <p:spPr>
          <a:xfrm>
            <a:off x="6172200" y="3886200"/>
            <a:ext cx="525780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023360"/>
            <a:ext cx="4892040" cy="1965960"/>
          </a:xfrm>
          <a:prstGeom prst="rect">
            <a:avLst/>
          </a:prstGeom>
          <a:noFill/>
        </p:spPr>
        <p:txBody>
          <a:bodyPr wrap="square" lIns="0" tIns="0">
            <a:spAutoFit/>
          </a:bodyPr>
          <a:lstStyle/>
          <a:p>
            <a:pPr>
              <a:spcAft>
                <a:spcPts val="600"/>
              </a:spcAft>
              <a:defRPr b="1" sz="1350">
                <a:solidFill>
                  <a:srgbClr val="DC2626"/>
                </a:solidFill>
              </a:defRPr>
            </a:pPr>
            <a:r>
              <a:t>⚠️ Corporate Actions &amp; Adjustments</a:t>
            </a:r>
          </a:p>
          <a:p>
            <a:pPr>
              <a:spcAft>
                <a:spcPts val="600"/>
              </a:spcAft>
              <a:defRPr sz="1050">
                <a:solidFill>
                  <a:srgbClr val="1E293B"/>
                </a:solidFill>
                <a:latin typeface="Calibri"/>
              </a:defRPr>
            </a:pPr>
            <a:r>
              <a:t>• Stock splits, bonus share issues, and dividends require adjusted closing prices (adj_close); unadjusted datasets may show artificial price drops.</a:t>
            </a:r>
          </a:p>
          <a:p>
            <a:pPr>
              <a:spcAft>
                <a:spcPts val="600"/>
              </a:spcAft>
              <a:defRPr sz="1050">
                <a:solidFill>
                  <a:srgbClr val="1E293B"/>
                </a:solidFill>
                <a:latin typeface="Calibri"/>
              </a:defRPr>
            </a:pPr>
            <a:r>
              <a:t>• Long-term nominal price drift can distort models that retain raw price levels (which is precisely why Lasso outperformed Ridge).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ROADMAP AHEAD</a:t>
            </a:r>
          </a:p>
          <a:p>
            <a:pPr>
              <a:defRPr sz="2200" b="1">
                <a:solidFill>
                  <a:srgbClr val="0F2042"/>
                </a:solidFill>
                <a:latin typeface="Calibri"/>
              </a:defRPr>
            </a:pPr>
            <a:r>
              <a:t>Future Scope &amp; Technical Enhancements</a:t>
            </a:r>
          </a:p>
          <a:p>
            <a:pPr>
              <a:defRPr sz="1100">
                <a:solidFill>
                  <a:srgbClr val="64748B"/>
                </a:solidFill>
                <a:latin typeface="Calibri"/>
              </a:defRPr>
            </a:pPr>
            <a:r>
              <a:t>Potential future extensions to expand modeling capability, data sources, and deployment architecture.</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20 / 21</a:t>
            </a:r>
          </a:p>
        </p:txBody>
      </p:sp>
      <p:sp>
        <p:nvSpPr>
          <p:cNvPr id="8" name="Rectangle 7"/>
          <p:cNvSpPr/>
          <p:nvPr/>
        </p:nvSpPr>
        <p:spPr>
          <a:xfrm>
            <a:off x="731520" y="1463040"/>
            <a:ext cx="731520" cy="8229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731520" cy="457200"/>
          </a:xfrm>
          <a:prstGeom prst="rect">
            <a:avLst/>
          </a:prstGeom>
          <a:noFill/>
        </p:spPr>
        <p:txBody>
          <a:bodyPr wrap="none">
            <a:spAutoFit/>
          </a:bodyPr>
          <a:lstStyle/>
          <a:p>
            <a:pPr algn="ctr">
              <a:defRPr sz="1600" b="1">
                <a:solidFill>
                  <a:srgbClr val="FFFFFF"/>
                </a:solidFill>
                <a:latin typeface="Calibri"/>
              </a:defRPr>
            </a:pPr>
            <a:r>
              <a:t>01</a:t>
            </a:r>
          </a:p>
        </p:txBody>
      </p:sp>
      <p:sp>
        <p:nvSpPr>
          <p:cNvPr id="10" name="Rectangle 9"/>
          <p:cNvSpPr/>
          <p:nvPr/>
        </p:nvSpPr>
        <p:spPr>
          <a:xfrm>
            <a:off x="1554480" y="1463040"/>
            <a:ext cx="9875520" cy="8229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91640" y="1536192"/>
            <a:ext cx="9601200" cy="685800"/>
          </a:xfrm>
          <a:prstGeom prst="rect">
            <a:avLst/>
          </a:prstGeom>
          <a:noFill/>
        </p:spPr>
        <p:txBody>
          <a:bodyPr wrap="square" lIns="0" tIns="0">
            <a:spAutoFit/>
          </a:bodyPr>
          <a:lstStyle/>
          <a:p>
            <a:pPr>
              <a:spcAft>
                <a:spcPts val="200"/>
              </a:spcAft>
              <a:defRPr b="1" sz="1300">
                <a:solidFill>
                  <a:srgbClr val="0F2042"/>
                </a:solidFill>
              </a:defRPr>
            </a:pPr>
            <a:r>
              <a:t>1. Non-Linear &amp; Ensemble Algorithms</a:t>
            </a:r>
          </a:p>
          <a:p>
            <a:pPr>
              <a:defRPr sz="1050">
                <a:solidFill>
                  <a:srgbClr val="1E293B"/>
                </a:solidFill>
              </a:defRPr>
            </a:pPr>
            <a:r>
              <a:t>Integrate Random Forests, Gradient Boosted Decision Trees (XGBoost/LightGBM), and Long Short-Term Memory (LSTM) recurrent neural networks to capture non-linear temporal dynamics.</a:t>
            </a:r>
          </a:p>
        </p:txBody>
      </p:sp>
      <p:sp>
        <p:nvSpPr>
          <p:cNvPr id="12" name="Rectangle 11"/>
          <p:cNvSpPr/>
          <p:nvPr/>
        </p:nvSpPr>
        <p:spPr>
          <a:xfrm>
            <a:off x="731520" y="2423160"/>
            <a:ext cx="731520" cy="8229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606040"/>
            <a:ext cx="731520" cy="457200"/>
          </a:xfrm>
          <a:prstGeom prst="rect">
            <a:avLst/>
          </a:prstGeom>
          <a:noFill/>
        </p:spPr>
        <p:txBody>
          <a:bodyPr wrap="none">
            <a:spAutoFit/>
          </a:bodyPr>
          <a:lstStyle/>
          <a:p>
            <a:pPr algn="ctr">
              <a:defRPr sz="1600" b="1">
                <a:solidFill>
                  <a:srgbClr val="FFFFFF"/>
                </a:solidFill>
                <a:latin typeface="Calibri"/>
              </a:defRPr>
            </a:pPr>
            <a:r>
              <a:t>02</a:t>
            </a:r>
          </a:p>
        </p:txBody>
      </p:sp>
      <p:sp>
        <p:nvSpPr>
          <p:cNvPr id="14" name="Rectangle 13"/>
          <p:cNvSpPr/>
          <p:nvPr/>
        </p:nvSpPr>
        <p:spPr>
          <a:xfrm>
            <a:off x="1554480" y="2423160"/>
            <a:ext cx="9875520" cy="8229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91640" y="2496312"/>
            <a:ext cx="9601200" cy="685800"/>
          </a:xfrm>
          <a:prstGeom prst="rect">
            <a:avLst/>
          </a:prstGeom>
          <a:noFill/>
        </p:spPr>
        <p:txBody>
          <a:bodyPr wrap="square" lIns="0" tIns="0">
            <a:spAutoFit/>
          </a:bodyPr>
          <a:lstStyle/>
          <a:p>
            <a:pPr>
              <a:spcAft>
                <a:spcPts val="200"/>
              </a:spcAft>
              <a:defRPr b="1" sz="1300">
                <a:solidFill>
                  <a:srgbClr val="0F2042"/>
                </a:solidFill>
              </a:defRPr>
            </a:pPr>
            <a:r>
              <a:t>2. Alternative Data &amp; Sentiment NLP</a:t>
            </a:r>
          </a:p>
          <a:p>
            <a:pPr>
              <a:defRPr sz="1050">
                <a:solidFill>
                  <a:srgbClr val="1E293B"/>
                </a:solidFill>
              </a:defRPr>
            </a:pPr>
            <a:r>
              <a:t>Incorporate sentiment analysis scores extracted from financial news headlines, Twitter/X sentiment feeds, and quarterly earnings call transcripts via NLP transformer models.</a:t>
            </a:r>
          </a:p>
        </p:txBody>
      </p:sp>
      <p:sp>
        <p:nvSpPr>
          <p:cNvPr id="16" name="Rectangle 15"/>
          <p:cNvSpPr/>
          <p:nvPr/>
        </p:nvSpPr>
        <p:spPr>
          <a:xfrm>
            <a:off x="731520" y="3383280"/>
            <a:ext cx="731520" cy="8229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566160"/>
            <a:ext cx="731520" cy="457200"/>
          </a:xfrm>
          <a:prstGeom prst="rect">
            <a:avLst/>
          </a:prstGeom>
          <a:noFill/>
        </p:spPr>
        <p:txBody>
          <a:bodyPr wrap="none">
            <a:spAutoFit/>
          </a:bodyPr>
          <a:lstStyle/>
          <a:p>
            <a:pPr algn="ctr">
              <a:defRPr sz="1600" b="1">
                <a:solidFill>
                  <a:srgbClr val="FFFFFF"/>
                </a:solidFill>
                <a:latin typeface="Calibri"/>
              </a:defRPr>
            </a:pPr>
            <a:r>
              <a:t>03</a:t>
            </a:r>
          </a:p>
        </p:txBody>
      </p:sp>
      <p:sp>
        <p:nvSpPr>
          <p:cNvPr id="18" name="Rectangle 17"/>
          <p:cNvSpPr/>
          <p:nvPr/>
        </p:nvSpPr>
        <p:spPr>
          <a:xfrm>
            <a:off x="1554480" y="3383280"/>
            <a:ext cx="9875520" cy="8229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91640" y="3456432"/>
            <a:ext cx="9601200" cy="685800"/>
          </a:xfrm>
          <a:prstGeom prst="rect">
            <a:avLst/>
          </a:prstGeom>
          <a:noFill/>
        </p:spPr>
        <p:txBody>
          <a:bodyPr wrap="square" lIns="0" tIns="0">
            <a:spAutoFit/>
          </a:bodyPr>
          <a:lstStyle/>
          <a:p>
            <a:pPr>
              <a:spcAft>
                <a:spcPts val="200"/>
              </a:spcAft>
              <a:defRPr b="1" sz="1300">
                <a:solidFill>
                  <a:srgbClr val="0F2042"/>
                </a:solidFill>
              </a:defRPr>
            </a:pPr>
            <a:r>
              <a:t>3. Macroeconomic &amp; Benchmark Covariates</a:t>
            </a:r>
          </a:p>
          <a:p>
            <a:pPr>
              <a:defRPr sz="1050">
                <a:solidFill>
                  <a:srgbClr val="1E293B"/>
                </a:solidFill>
              </a:defRPr>
            </a:pPr>
            <a:r>
              <a:t>Expand the feature matrix to include Nifty 50 benchmark returns, Brent crude oil prices, INR/USD exchange rates, and RBI 10-year bond yields.</a:t>
            </a:r>
          </a:p>
        </p:txBody>
      </p:sp>
      <p:sp>
        <p:nvSpPr>
          <p:cNvPr id="20" name="Rectangle 19"/>
          <p:cNvSpPr/>
          <p:nvPr/>
        </p:nvSpPr>
        <p:spPr>
          <a:xfrm>
            <a:off x="731520" y="4343400"/>
            <a:ext cx="731520" cy="8229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526280"/>
            <a:ext cx="731520" cy="457200"/>
          </a:xfrm>
          <a:prstGeom prst="rect">
            <a:avLst/>
          </a:prstGeom>
          <a:noFill/>
        </p:spPr>
        <p:txBody>
          <a:bodyPr wrap="none">
            <a:spAutoFit/>
          </a:bodyPr>
          <a:lstStyle/>
          <a:p>
            <a:pPr algn="ctr">
              <a:defRPr sz="1600" b="1">
                <a:solidFill>
                  <a:srgbClr val="FFFFFF"/>
                </a:solidFill>
                <a:latin typeface="Calibri"/>
              </a:defRPr>
            </a:pPr>
            <a:r>
              <a:t>04</a:t>
            </a:r>
          </a:p>
        </p:txBody>
      </p:sp>
      <p:sp>
        <p:nvSpPr>
          <p:cNvPr id="22" name="Rectangle 21"/>
          <p:cNvSpPr/>
          <p:nvPr/>
        </p:nvSpPr>
        <p:spPr>
          <a:xfrm>
            <a:off x="1554480" y="4343400"/>
            <a:ext cx="9875520" cy="8229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91640" y="4416552"/>
            <a:ext cx="9601200" cy="685800"/>
          </a:xfrm>
          <a:prstGeom prst="rect">
            <a:avLst/>
          </a:prstGeom>
          <a:noFill/>
        </p:spPr>
        <p:txBody>
          <a:bodyPr wrap="square" lIns="0" tIns="0">
            <a:spAutoFit/>
          </a:bodyPr>
          <a:lstStyle/>
          <a:p>
            <a:pPr>
              <a:spcAft>
                <a:spcPts val="200"/>
              </a:spcAft>
              <a:defRPr b="1" sz="1300">
                <a:solidFill>
                  <a:srgbClr val="0F2042"/>
                </a:solidFill>
              </a:defRPr>
            </a:pPr>
            <a:r>
              <a:t>4. Rolling Walk-Forward Retraining</a:t>
            </a:r>
          </a:p>
          <a:p>
            <a:pPr>
              <a:defRPr sz="1050">
                <a:solidFill>
                  <a:srgbClr val="1E293B"/>
                </a:solidFill>
              </a:defRPr>
            </a:pPr>
            <a:r>
              <a:t>Implement rolling walk-forward optimization where models periodically retrain on sliding historical windows (e.g., re-fitting every 252 trading days).</a:t>
            </a:r>
          </a:p>
        </p:txBody>
      </p:sp>
      <p:sp>
        <p:nvSpPr>
          <p:cNvPr id="24" name="Rectangle 23"/>
          <p:cNvSpPr/>
          <p:nvPr/>
        </p:nvSpPr>
        <p:spPr>
          <a:xfrm>
            <a:off x="731520" y="5303520"/>
            <a:ext cx="731520" cy="8229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486400"/>
            <a:ext cx="731520" cy="457200"/>
          </a:xfrm>
          <a:prstGeom prst="rect">
            <a:avLst/>
          </a:prstGeom>
          <a:noFill/>
        </p:spPr>
        <p:txBody>
          <a:bodyPr wrap="none">
            <a:spAutoFit/>
          </a:bodyPr>
          <a:lstStyle/>
          <a:p>
            <a:pPr algn="ctr">
              <a:defRPr sz="1600" b="1">
                <a:solidFill>
                  <a:srgbClr val="FFFFFF"/>
                </a:solidFill>
                <a:latin typeface="Calibri"/>
              </a:defRPr>
            </a:pPr>
            <a:r>
              <a:t>05</a:t>
            </a:r>
          </a:p>
        </p:txBody>
      </p:sp>
      <p:sp>
        <p:nvSpPr>
          <p:cNvPr id="26" name="Rectangle 25"/>
          <p:cNvSpPr/>
          <p:nvPr/>
        </p:nvSpPr>
        <p:spPr>
          <a:xfrm>
            <a:off x="1554480" y="5303520"/>
            <a:ext cx="9875520" cy="8229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91640" y="5376672"/>
            <a:ext cx="9601200" cy="685800"/>
          </a:xfrm>
          <a:prstGeom prst="rect">
            <a:avLst/>
          </a:prstGeom>
          <a:noFill/>
        </p:spPr>
        <p:txBody>
          <a:bodyPr wrap="square" lIns="0" tIns="0">
            <a:spAutoFit/>
          </a:bodyPr>
          <a:lstStyle/>
          <a:p>
            <a:pPr>
              <a:spcAft>
                <a:spcPts val="200"/>
              </a:spcAft>
              <a:defRPr b="1" sz="1300">
                <a:solidFill>
                  <a:srgbClr val="0F2042"/>
                </a:solidFill>
              </a:defRPr>
            </a:pPr>
            <a:r>
              <a:t>5. Volatility Modeling &amp; Live API Feeds</a:t>
            </a:r>
          </a:p>
          <a:p>
            <a:pPr>
              <a:defRPr sz="1050">
                <a:solidFill>
                  <a:srgbClr val="1E293B"/>
                </a:solidFill>
              </a:defRPr>
            </a:pPr>
            <a:r>
              <a:t>Pair point return estimates with dynamic volatility confidence intervals using GARCH models, and connect directly to automated end-of-day market data APIs.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1051560"/>
          </a:xfrm>
          <a:prstGeom prst="rect">
            <a:avLst/>
          </a:prstGeom>
          <a:noFill/>
        </p:spPr>
        <p:txBody>
          <a:bodyPr wrap="square" lIns="0" tIns="0" rIns="0" bIns="0">
            <a:spAutoFit/>
          </a:bodyPr>
          <a:lstStyle/>
          <a:p>
            <a:pPr>
              <a:spcAft>
                <a:spcPts val="200"/>
              </a:spcAft>
              <a:defRPr sz="950" b="1">
                <a:solidFill>
                  <a:srgbClr val="0D9488"/>
                </a:solidFill>
                <a:latin typeface="Calibri"/>
              </a:defRPr>
            </a:pPr>
            <a:r>
              <a:t>CONCLUSION</a:t>
            </a:r>
          </a:p>
          <a:p>
            <a:pPr>
              <a:defRPr sz="2200" b="1">
                <a:solidFill>
                  <a:srgbClr val="0F2042"/>
                </a:solidFill>
                <a:latin typeface="Calibri"/>
              </a:defRPr>
            </a:pPr>
            <a:r>
              <a:t>Project Summary &amp; Concluding Remarks</a:t>
            </a:r>
          </a:p>
          <a:p>
            <a:pPr>
              <a:defRPr sz="1100">
                <a:solidFill>
                  <a:srgbClr val="64748B"/>
                </a:solidFill>
                <a:latin typeface="Calibri"/>
              </a:defRPr>
            </a:pPr>
            <a:r>
              <a:t>Key technical takeaways, academic contributions, and final project summary.</a:t>
            </a:r>
          </a:p>
        </p:txBody>
      </p:sp>
      <p:sp>
        <p:nvSpPr>
          <p:cNvPr id="5" name="Rectangle 4"/>
          <p:cNvSpPr/>
          <p:nvPr/>
        </p:nvSpPr>
        <p:spPr>
          <a:xfrm>
            <a:off x="731520" y="644652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lIns="0" tIns="0" rIns="0" bIns="0">
            <a:spAutoFit/>
          </a:bodyPr>
          <a:lstStyle/>
          <a:p>
            <a:pPr>
              <a:defRPr sz="900">
                <a:solidFill>
                  <a:srgbClr val="64748B"/>
                </a:solidFill>
                <a:latin typeface="Calibri"/>
              </a:defRPr>
            </a:pPr>
            <a:r>
              <a:t>Stock Return Prediction Using Ridge &amp; Lasso Regression  |  B.Tech ML Project</a:t>
            </a:r>
          </a:p>
        </p:txBody>
      </p:sp>
      <p:sp>
        <p:nvSpPr>
          <p:cNvPr id="7" name="TextBox 6"/>
          <p:cNvSpPr txBox="1"/>
          <p:nvPr/>
        </p:nvSpPr>
        <p:spPr>
          <a:xfrm>
            <a:off x="10515600" y="6510528"/>
            <a:ext cx="944575" cy="274320"/>
          </a:xfrm>
          <a:prstGeom prst="rect">
            <a:avLst/>
          </a:prstGeom>
          <a:noFill/>
        </p:spPr>
        <p:txBody>
          <a:bodyPr wrap="none" lIns="0" tIns="0" rIns="0" bIns="0">
            <a:spAutoFit/>
          </a:bodyPr>
          <a:lstStyle/>
          <a:p>
            <a:pPr algn="r">
              <a:defRPr sz="900" b="1">
                <a:solidFill>
                  <a:srgbClr val="0F2042"/>
                </a:solidFill>
                <a:latin typeface="Calibri"/>
              </a:defRPr>
            </a:pPr>
            <a:r>
              <a:t>21 / 21</a:t>
            </a:r>
          </a:p>
        </p:txBody>
      </p:sp>
      <p:sp>
        <p:nvSpPr>
          <p:cNvPr id="8" name="Rectangle 7"/>
          <p:cNvSpPr/>
          <p:nvPr/>
        </p:nvSpPr>
        <p:spPr>
          <a:xfrm>
            <a:off x="731520" y="1463040"/>
            <a:ext cx="5212080" cy="4709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754880" cy="4297680"/>
          </a:xfrm>
          <a:prstGeom prst="rect">
            <a:avLst/>
          </a:prstGeom>
          <a:noFill/>
        </p:spPr>
        <p:txBody>
          <a:bodyPr wrap="square">
            <a:spAutoFit/>
          </a:bodyPr>
          <a:lstStyle/>
          <a:p>
            <a:pPr>
              <a:spcAft>
                <a:spcPts val="1000"/>
              </a:spcAft>
              <a:defRPr b="1" sz="1600">
                <a:solidFill>
                  <a:srgbClr val="0F2042"/>
                </a:solidFill>
              </a:defRPr>
            </a:pPr>
            <a:r>
              <a:t>Key Project Takeaways</a:t>
            </a:r>
          </a:p>
          <a:p>
            <a:pPr>
              <a:spcAft>
                <a:spcPts val="800"/>
              </a:spcAft>
              <a:defRPr sz="1100">
                <a:solidFill>
                  <a:srgbClr val="1E293B"/>
                </a:solidFill>
                <a:latin typeface="Calibri"/>
              </a:defRPr>
            </a:pPr>
            <a:r>
              <a:rPr b="1">
                <a:solidFill>
                  <a:srgbClr val="0F2042"/>
                </a:solidFill>
              </a:rPr>
              <a:t>• End-to-End Working System:</a:t>
            </a:r>
            <a:r>
              <a:rPr b="0">
                <a:solidFill>
                  <a:srgbClr val="1E293B"/>
                </a:solidFill>
              </a:rPr>
              <a:t> Successfully delivered an upload-driven web application in Streamlit and Scikit-Learn with 11 automated workflow stages.</a:t>
            </a:r>
          </a:p>
          <a:p>
            <a:pPr>
              <a:spcAft>
                <a:spcPts val="800"/>
              </a:spcAft>
              <a:defRPr sz="1100">
                <a:solidFill>
                  <a:srgbClr val="1E293B"/>
                </a:solidFill>
                <a:latin typeface="Calibri"/>
              </a:defRPr>
            </a:pPr>
            <a:r>
              <a:rPr b="1">
                <a:solidFill>
                  <a:srgbClr val="0F2042"/>
                </a:solidFill>
              </a:rPr>
              <a:t>• Leakage-Free Methodology:</a:t>
            </a:r>
            <a:r>
              <a:rPr b="0">
                <a:solidFill>
                  <a:srgbClr val="1E293B"/>
                </a:solidFill>
              </a:rPr>
              <a:t> Demonstrated why strict chronological splitting and pipeline-encapsulated scaling are non-negotiable in financial time-series modeling.</a:t>
            </a:r>
          </a:p>
          <a:p>
            <a:pPr>
              <a:spcAft>
                <a:spcPts val="800"/>
              </a:spcAft>
              <a:defRPr sz="1100">
                <a:solidFill>
                  <a:srgbClr val="1E293B"/>
                </a:solidFill>
                <a:latin typeface="Calibri"/>
              </a:defRPr>
            </a:pPr>
            <a:r>
              <a:rPr b="1">
                <a:solidFill>
                  <a:srgbClr val="0F2042"/>
                </a:solidFill>
              </a:rPr>
              <a:t>• Empirical L1 vs L2 Finding:</a:t>
            </a:r>
            <a:r>
              <a:rPr b="0">
                <a:solidFill>
                  <a:srgbClr val="1E293B"/>
                </a:solidFill>
              </a:rPr>
              <a:t> Proved that Lasso outperformed Ridge on unseen data because L1 sparsity zeroed out non-stationary price columns (open, high, low, close), protecting the model from price drift.</a:t>
            </a:r>
          </a:p>
          <a:p>
            <a:pPr>
              <a:spcAft>
                <a:spcPts val="800"/>
              </a:spcAft>
              <a:defRPr sz="1100">
                <a:solidFill>
                  <a:srgbClr val="1E293B"/>
                </a:solidFill>
                <a:latin typeface="Calibri"/>
              </a:defRPr>
            </a:pPr>
            <a:r>
              <a:rPr b="1">
                <a:solidFill>
                  <a:srgbClr val="0F2042"/>
                </a:solidFill>
              </a:rPr>
              <a:t>• Educational &amp; Scientific Integrity:</a:t>
            </a:r>
            <a:r>
              <a:rPr b="0">
                <a:solidFill>
                  <a:srgbClr val="1E293B"/>
                </a:solidFill>
              </a:rPr>
              <a:t> Evaluated models honestly on real test data, debunking naive get-rich-quick claims and emphasizing true signal-to-noise realities.</a:t>
            </a:r>
          </a:p>
          <a:p>
            <a:pPr>
              <a:spcAft>
                <a:spcPts val="800"/>
              </a:spcAft>
              <a:defRPr sz="1100">
                <a:solidFill>
                  <a:srgbClr val="1E293B"/>
                </a:solidFill>
                <a:latin typeface="Calibri"/>
              </a:defRPr>
            </a:pPr>
            <a:r>
              <a:rPr b="1">
                <a:solidFill>
                  <a:srgbClr val="0F2042"/>
                </a:solidFill>
              </a:rPr>
              <a:t>• Robust Quality Assurance:</a:t>
            </a:r>
            <a:r>
              <a:rPr b="0">
                <a:solidFill>
                  <a:srgbClr val="1E293B"/>
                </a:solidFill>
              </a:rPr>
              <a:t> Backed by 31 automated unit and integration tests covering data loading, cleaning, leakage, and prediction.</a:t>
            </a:r>
          </a:p>
        </p:txBody>
      </p:sp>
      <p:sp>
        <p:nvSpPr>
          <p:cNvPr id="10" name="Rectangle 9"/>
          <p:cNvSpPr/>
          <p:nvPr/>
        </p:nvSpPr>
        <p:spPr>
          <a:xfrm>
            <a:off x="6217920" y="1463040"/>
            <a:ext cx="5212080" cy="4709160"/>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103120"/>
            <a:ext cx="4663440" cy="3474720"/>
          </a:xfrm>
          <a:prstGeom prst="rect">
            <a:avLst/>
          </a:prstGeom>
          <a:noFill/>
        </p:spPr>
        <p:txBody>
          <a:bodyPr wrap="square">
            <a:spAutoFit/>
          </a:bodyPr>
          <a:lstStyle/>
          <a:p>
            <a:pPr>
              <a:spcAft>
                <a:spcPts val="1400"/>
              </a:spcAft>
              <a:defRPr sz="3200" b="1">
                <a:solidFill>
                  <a:srgbClr val="FFFFFF"/>
                </a:solidFill>
                <a:latin typeface="Calibri"/>
              </a:defRPr>
            </a:pPr>
            <a:r>
              <a:t>Thank You!</a:t>
            </a:r>
          </a:p>
          <a:p>
            <a:pPr>
              <a:spcAft>
                <a:spcPts val="1600"/>
              </a:spcAft>
              <a:defRPr sz="1800" b="1">
                <a:solidFill>
                  <a:srgbClr val="0D9488"/>
                </a:solidFill>
                <a:latin typeface="Calibri"/>
              </a:defRPr>
            </a:pPr>
            <a:r>
              <a:t>Questions &amp; Discussion</a:t>
            </a:r>
          </a:p>
          <a:p>
            <a:pPr>
              <a:spcAft>
                <a:spcPts val="2000"/>
              </a:spcAft>
              <a:defRPr sz="1150">
                <a:solidFill>
                  <a:srgbClr val="CBD5E1"/>
                </a:solidFill>
              </a:defRPr>
            </a:pPr>
            <a:r>
              <a:t>We express our sincere gratitude to our project guide, faculty evaluators, and the department for their continuous guidance and support throughout this project.</a:t>
            </a:r>
          </a:p>
          <a:p>
            <a:pPr>
              <a:defRPr sz="1000">
                <a:solidFill>
                  <a:srgbClr val="94A3B8"/>
                </a:solidFill>
              </a:defRPr>
            </a:pPr>
            <a:r>
              <a:t>Project: Stock Return Prediction Using Ridge &amp; Lasso Regression</a:t>
            </a:r>
            <a:br/>
            <a:r>
              <a:t>Application: Running locally on Streamlit (localhost:8501)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